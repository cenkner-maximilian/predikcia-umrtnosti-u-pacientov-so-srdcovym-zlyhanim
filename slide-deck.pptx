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5" r:id="rId4"/>
    <p:sldId id="258" r:id="rId5"/>
    <p:sldId id="259" r:id="rId6"/>
    <p:sldId id="261" r:id="rId7"/>
    <p:sldId id="262" r:id="rId8"/>
    <p:sldId id="263" r:id="rId9"/>
    <p:sldId id="264" r:id="rId10"/>
    <p:sldId id="266" r:id="rId11"/>
    <p:sldId id="267" r:id="rId12"/>
    <p:sldId id="269" r:id="rId13"/>
    <p:sldId id="270" r:id="rId14"/>
    <p:sldId id="27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A3FD"/>
    <a:srgbClr val="865DFF"/>
    <a:srgbClr val="1918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77"/>
    <p:restoredTop sz="94673"/>
  </p:normalViewPr>
  <p:slideViewPr>
    <p:cSldViewPr snapToGrid="0">
      <p:cViewPr varScale="1">
        <p:scale>
          <a:sx n="103" d="100"/>
          <a:sy n="103" d="100"/>
        </p:scale>
        <p:origin x="200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3719C-A301-1605-C52F-89FBF0E7D9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480" y="4926841"/>
            <a:ext cx="9144000" cy="1032891"/>
          </a:xfrm>
          <a:prstGeom prst="rect">
            <a:avLst/>
          </a:prstGeom>
        </p:spPr>
        <p:txBody>
          <a:bodyPr anchor="b"/>
          <a:lstStyle>
            <a:lvl1pPr algn="l">
              <a:defRPr sz="6000"/>
            </a:lvl1pPr>
          </a:lstStyle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701E31-C627-5742-E74B-6601785636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6480" y="6051808"/>
            <a:ext cx="9144000" cy="546881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2299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3AA6D-05E2-43C4-8264-A451CF299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53365D-9696-A20E-DB3D-019F1846A3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0816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EA6E6-1988-0B39-F12E-8DDE1572F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5D19A5-EF12-28C4-313C-35BBB00A43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22569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8F8DC-885D-FC8F-CF92-93E71D0FA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E74D8-809B-3D48-D576-B393B1D0DC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20DD1B-FF2E-52C7-80C2-320626431A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23530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CF0AF-B2EB-8434-E4BB-A8F083E97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46FCC2-E28D-11BB-E561-74B1389DF2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2B5FE7-88B8-2726-F89E-6D15196BDC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79E1EC-EC56-76BF-7844-EC3B88A844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686FF1-2DAA-7185-27C9-47F6D499BD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62143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553D6-6F04-5FE3-42A6-A22294BDB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70965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2585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11059-1783-3E26-08D7-E0CE9C898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 b="1" i="0">
                <a:latin typeface="Clother Black" pitchFamily="2" charset="-79"/>
                <a:cs typeface="Clother Black" pitchFamily="2" charset="-79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EA1E90-47DF-F387-A9CC-1218EFCF65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0C22B7-DAFC-6BB4-52B6-F952797128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39765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75DD5-1D9D-CAA7-6442-AF7ADE10A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 b="1" i="0">
                <a:latin typeface="Clother Black" pitchFamily="2" charset="-79"/>
                <a:cs typeface="Clother Black" pitchFamily="2" charset="-79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42F04E-8703-C71B-F062-246F54DB0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34924A-4493-F3A5-AD0D-9DB72EBDDF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21076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B66A0-4570-F0FA-8077-AA030DC09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A76FF3-B9E0-A546-A173-2CD71DA376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18523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AB1550-D5EB-A5F3-D3E8-77C3F5DBD4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AEFF63-0DAD-447B-0E4F-9A876F65FB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91509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8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6829DC-04BA-C26E-6F2E-93AF6257F2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122C9B5E-49CA-DF99-55F0-A1F89E38B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55048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bg1"/>
          </a:solidFill>
          <a:latin typeface="Clother" pitchFamily="2" charset="-79"/>
          <a:ea typeface="+mj-ea"/>
          <a:cs typeface="Clother" pitchFamily="2" charset="-79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FFA3FD"/>
          </a:solidFill>
          <a:latin typeface="Clother" pitchFamily="2" charset="-79"/>
          <a:ea typeface="+mn-ea"/>
          <a:cs typeface="Clother" pitchFamily="2" charset="-79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FFA3FD"/>
          </a:solidFill>
          <a:latin typeface="Clother" pitchFamily="2" charset="-79"/>
          <a:ea typeface="+mn-ea"/>
          <a:cs typeface="Clother" pitchFamily="2" charset="-79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FFA3FD"/>
          </a:solidFill>
          <a:latin typeface="Clother" pitchFamily="2" charset="-79"/>
          <a:ea typeface="+mn-ea"/>
          <a:cs typeface="Clother" pitchFamily="2" charset="-79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FFA3FD"/>
          </a:solidFill>
          <a:latin typeface="Clother" pitchFamily="2" charset="-79"/>
          <a:ea typeface="+mn-ea"/>
          <a:cs typeface="Clother" pitchFamily="2" charset="-79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FFA3FD"/>
          </a:solidFill>
          <a:latin typeface="Clother" pitchFamily="2" charset="-79"/>
          <a:ea typeface="+mn-ea"/>
          <a:cs typeface="Clother" pitchFamily="2" charset="-79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86/s12911-020-1023-5" TargetMode="External"/><Relationship Id="rId2" Type="http://schemas.openxmlformats.org/officeDocument/2006/relationships/hyperlink" Target="https://doi.org/10.24432/C5Z89R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9FECBC2-EA38-2D6B-EBC9-A9AD5FA929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46" y="66907"/>
            <a:ext cx="11954107" cy="67241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03026BD-3A88-855E-09A4-39DD05CF5F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480" y="4594301"/>
            <a:ext cx="9144000" cy="1365431"/>
          </a:xfrm>
        </p:spPr>
        <p:txBody>
          <a:bodyPr>
            <a:normAutofit/>
          </a:bodyPr>
          <a:lstStyle/>
          <a:p>
            <a:r>
              <a:rPr lang="sk-SK" sz="4000" noProof="0" dirty="0">
                <a:latin typeface="Clother Black" pitchFamily="2" charset="-79"/>
                <a:cs typeface="Clother Black" pitchFamily="2" charset="-79"/>
              </a:rPr>
              <a:t>Predikcia úmrtnosti pacientov s diagnostikovaným zlyhaním srdca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FD8F11-BFB2-2E34-3C2A-435409545B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k-SK" b="1" noProof="0" dirty="0"/>
              <a:t>Maximilián Cenkner</a:t>
            </a:r>
          </a:p>
        </p:txBody>
      </p:sp>
    </p:spTree>
    <p:extLst>
      <p:ext uri="{BB962C8B-B14F-4D97-AF65-F5344CB8AC3E}">
        <p14:creationId xmlns:p14="http://schemas.microsoft.com/office/powerpoint/2010/main" val="2537662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1299E-0F69-EFCA-4E4C-4F6549C9B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b="0" noProof="0" dirty="0">
                <a:latin typeface="Clother Black" pitchFamily="2" charset="-79"/>
                <a:cs typeface="Clother Black" pitchFamily="2" charset="-79"/>
              </a:rPr>
              <a:t>OBSAH PRÁCE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901878-3C91-3DDC-05DB-DB1359C768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b="1" noProof="0" dirty="0"/>
              <a:t>Fungovanie srdca</a:t>
            </a:r>
          </a:p>
          <a:p>
            <a:r>
              <a:rPr lang="sk-SK" b="1" noProof="0" dirty="0"/>
              <a:t>Čo sú </a:t>
            </a:r>
            <a:r>
              <a:rPr lang="sk-SK" b="1" noProof="0" dirty="0" err="1"/>
              <a:t>data</a:t>
            </a:r>
            <a:r>
              <a:rPr lang="sk-SK" b="1" noProof="0" dirty="0"/>
              <a:t> a </a:t>
            </a:r>
            <a:r>
              <a:rPr lang="sk-SK" b="1" noProof="0" dirty="0" err="1"/>
              <a:t>dataset</a:t>
            </a:r>
            <a:r>
              <a:rPr lang="sk-SK" b="1" noProof="0" dirty="0"/>
              <a:t>?</a:t>
            </a:r>
          </a:p>
          <a:p>
            <a:r>
              <a:rPr lang="sk-SK" b="1" noProof="0" dirty="0"/>
              <a:t>Aký </a:t>
            </a:r>
            <a:r>
              <a:rPr lang="sk-SK" b="1" noProof="0" dirty="0" err="1"/>
              <a:t>dataset</a:t>
            </a:r>
            <a:r>
              <a:rPr lang="sk-SK" b="1" noProof="0" dirty="0"/>
              <a:t> som použil ja?</a:t>
            </a:r>
          </a:p>
          <a:p>
            <a:r>
              <a:rPr lang="sk-SK" b="1" noProof="0" dirty="0"/>
              <a:t>Čo je strojové učenie (</a:t>
            </a:r>
            <a:r>
              <a:rPr lang="sk-SK" b="1" noProof="0" dirty="0" err="1"/>
              <a:t>machine</a:t>
            </a:r>
            <a:r>
              <a:rPr lang="sk-SK" b="1" noProof="0" dirty="0"/>
              <a:t> </a:t>
            </a:r>
            <a:r>
              <a:rPr lang="sk-SK" b="1" noProof="0" dirty="0" err="1"/>
              <a:t>learning</a:t>
            </a:r>
            <a:r>
              <a:rPr lang="sk-SK" b="1" noProof="0" dirty="0"/>
              <a:t>)?</a:t>
            </a:r>
          </a:p>
          <a:p>
            <a:r>
              <a:rPr lang="sk-SK" b="1" noProof="0" dirty="0"/>
              <a:t>Aký model som použil ja?</a:t>
            </a:r>
          </a:p>
          <a:p>
            <a:r>
              <a:rPr lang="sk-SK" b="1" noProof="0" dirty="0"/>
              <a:t>Tréning modelu</a:t>
            </a:r>
          </a:p>
          <a:p>
            <a:r>
              <a:rPr lang="sk-SK" b="1" noProof="0" dirty="0"/>
              <a:t>Vyhodnotenie</a:t>
            </a:r>
          </a:p>
        </p:txBody>
      </p:sp>
    </p:spTree>
    <p:extLst>
      <p:ext uri="{BB962C8B-B14F-4D97-AF65-F5344CB8AC3E}">
        <p14:creationId xmlns:p14="http://schemas.microsoft.com/office/powerpoint/2010/main" val="654054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049D2-4087-E546-F8FB-F2DFE2DFA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ZLYHANIE SRDCA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2B4667-F495-2F6F-86D0-B4C83EB07F6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 err="1"/>
              <a:t>Neschopnosť</a:t>
            </a:r>
            <a:r>
              <a:rPr lang="en-US" dirty="0"/>
              <a:t> </a:t>
            </a:r>
            <a:r>
              <a:rPr lang="en-US" dirty="0" err="1"/>
              <a:t>srdca</a:t>
            </a:r>
            <a:r>
              <a:rPr lang="en-US" dirty="0"/>
              <a:t> </a:t>
            </a:r>
            <a:r>
              <a:rPr lang="en-US" dirty="0" err="1"/>
              <a:t>pumpovať</a:t>
            </a:r>
            <a:r>
              <a:rPr lang="en-US" dirty="0"/>
              <a:t> </a:t>
            </a:r>
            <a:r>
              <a:rPr lang="en-US" dirty="0" err="1"/>
              <a:t>krv</a:t>
            </a:r>
            <a:r>
              <a:rPr lang="en-US" dirty="0"/>
              <a:t> do </a:t>
            </a:r>
            <a:r>
              <a:rPr lang="en-US" dirty="0" err="1"/>
              <a:t>tela</a:t>
            </a:r>
            <a:r>
              <a:rPr lang="en-US" dirty="0"/>
              <a:t> </a:t>
            </a:r>
            <a:r>
              <a:rPr lang="en-US" dirty="0" err="1"/>
              <a:t>spôsobené</a:t>
            </a:r>
            <a:r>
              <a:rPr lang="en-US" dirty="0"/>
              <a:t> </a:t>
            </a:r>
            <a:r>
              <a:rPr lang="en-US" dirty="0" err="1"/>
              <a:t>rôznymi</a:t>
            </a:r>
            <a:r>
              <a:rPr lang="en-US" dirty="0"/>
              <a:t> </a:t>
            </a:r>
            <a:r>
              <a:rPr lang="en-US" dirty="0" err="1"/>
              <a:t>chorobami</a:t>
            </a:r>
            <a:r>
              <a:rPr lang="en-US" dirty="0"/>
              <a:t>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Môže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byť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 err="1">
                <a:solidFill>
                  <a:schemeClr val="bg1"/>
                </a:solidFill>
              </a:rPr>
              <a:t>Akútne</a:t>
            </a:r>
            <a:r>
              <a:rPr lang="en-US" dirty="0">
                <a:solidFill>
                  <a:schemeClr val="bg1"/>
                </a:solidFill>
              </a:rPr>
              <a:t> (</a:t>
            </a:r>
            <a:r>
              <a:rPr lang="en-US" dirty="0" err="1">
                <a:solidFill>
                  <a:schemeClr val="bg1"/>
                </a:solidFill>
              </a:rPr>
              <a:t>napr</a:t>
            </a:r>
            <a:r>
              <a:rPr lang="en-US" dirty="0">
                <a:solidFill>
                  <a:schemeClr val="bg1"/>
                </a:solidFill>
              </a:rPr>
              <a:t>. </a:t>
            </a:r>
            <a:r>
              <a:rPr lang="en-US" dirty="0" err="1"/>
              <a:t>infarkt</a:t>
            </a:r>
            <a:r>
              <a:rPr lang="en-US" dirty="0">
                <a:solidFill>
                  <a:schemeClr val="bg1"/>
                </a:solidFill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 err="1">
                <a:solidFill>
                  <a:schemeClr val="bg1"/>
                </a:solidFill>
              </a:rPr>
              <a:t>Chronické</a:t>
            </a:r>
            <a:r>
              <a:rPr lang="en-US" dirty="0">
                <a:solidFill>
                  <a:schemeClr val="bg1"/>
                </a:solidFill>
              </a:rPr>
              <a:t> (</a:t>
            </a:r>
            <a:r>
              <a:rPr lang="en-US" dirty="0" err="1">
                <a:solidFill>
                  <a:schemeClr val="bg1"/>
                </a:solidFill>
              </a:rPr>
              <a:t>napr</a:t>
            </a:r>
            <a:r>
              <a:rPr lang="en-US" dirty="0">
                <a:solidFill>
                  <a:schemeClr val="bg1"/>
                </a:solidFill>
              </a:rPr>
              <a:t>. </a:t>
            </a:r>
            <a:r>
              <a:rPr lang="en-US" dirty="0" err="1"/>
              <a:t>hypertenzia</a:t>
            </a:r>
            <a:r>
              <a:rPr lang="en-US" dirty="0"/>
              <a:t>, </a:t>
            </a:r>
            <a:r>
              <a:rPr lang="en-US" dirty="0" err="1"/>
              <a:t>ateroskleróza</a:t>
            </a:r>
            <a:r>
              <a:rPr lang="en-US" dirty="0">
                <a:solidFill>
                  <a:schemeClr val="bg1"/>
                </a:solidFill>
              </a:rPr>
              <a:t>)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B399DE-799B-FA18-4160-8FD4B3886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3358" y="654717"/>
            <a:ext cx="3514092" cy="5548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721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63188-FD02-9859-D4ED-DCA6DA796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9359" y="2386359"/>
            <a:ext cx="3932237" cy="540835"/>
          </a:xfrm>
        </p:spPr>
        <p:txBody>
          <a:bodyPr/>
          <a:lstStyle/>
          <a:p>
            <a:r>
              <a:rPr lang="sk-SK" b="0" dirty="0"/>
              <a:t>DÁTA A DATASETY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8D9E44-B240-BEFC-6669-8C30E3A7FF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29359" y="2927195"/>
            <a:ext cx="3932237" cy="137160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sk-SK" b="1" dirty="0"/>
              <a:t>Dáta </a:t>
            </a:r>
            <a:r>
              <a:rPr lang="sk-SK" dirty="0">
                <a:solidFill>
                  <a:schemeClr val="bg1"/>
                </a:solidFill>
              </a:rPr>
              <a:t>– akékoľvek informácie vo forme čísel, písmen apod.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k-SK" b="1" dirty="0" err="1"/>
              <a:t>Datasety</a:t>
            </a:r>
            <a:r>
              <a:rPr lang="sk-SK" b="1" dirty="0"/>
              <a:t> </a:t>
            </a:r>
            <a:r>
              <a:rPr lang="sk-SK" dirty="0">
                <a:solidFill>
                  <a:schemeClr val="bg1"/>
                </a:solidFill>
              </a:rPr>
              <a:t>– usporiadaná skupina viacerých dát, ktoré spolu súvisia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7A70F6-AA3F-9D17-DAA7-423DC2271F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0029" y="1651000"/>
            <a:ext cx="3556000" cy="355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138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B5229-61A0-918F-D9C5-E400C6902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k-SK" dirty="0">
                <a:latin typeface="Clother Black" pitchFamily="2" charset="-79"/>
                <a:cs typeface="Clother Black" pitchFamily="2" charset="-79"/>
              </a:rPr>
              <a:t>DÁTA A DATASETY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444F912-1E47-B9FA-4A11-753F994E30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2515046"/>
              </p:ext>
            </p:extLst>
          </p:nvPr>
        </p:nvGraphicFramePr>
        <p:xfrm>
          <a:off x="2780956" y="2312808"/>
          <a:ext cx="6630088" cy="22323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57522">
                  <a:extLst>
                    <a:ext uri="{9D8B030D-6E8A-4147-A177-3AD203B41FA5}">
                      <a16:colId xmlns:a16="http://schemas.microsoft.com/office/drawing/2014/main" val="1755118095"/>
                    </a:ext>
                  </a:extLst>
                </a:gridCol>
                <a:gridCol w="1657522">
                  <a:extLst>
                    <a:ext uri="{9D8B030D-6E8A-4147-A177-3AD203B41FA5}">
                      <a16:colId xmlns:a16="http://schemas.microsoft.com/office/drawing/2014/main" val="453939657"/>
                    </a:ext>
                  </a:extLst>
                </a:gridCol>
                <a:gridCol w="1657522">
                  <a:extLst>
                    <a:ext uri="{9D8B030D-6E8A-4147-A177-3AD203B41FA5}">
                      <a16:colId xmlns:a16="http://schemas.microsoft.com/office/drawing/2014/main" val="302147663"/>
                    </a:ext>
                  </a:extLst>
                </a:gridCol>
                <a:gridCol w="1657522">
                  <a:extLst>
                    <a:ext uri="{9D8B030D-6E8A-4147-A177-3AD203B41FA5}">
                      <a16:colId xmlns:a16="http://schemas.microsoft.com/office/drawing/2014/main" val="3606006613"/>
                    </a:ext>
                  </a:extLst>
                </a:gridCol>
              </a:tblGrid>
              <a:tr h="408005"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sk-SK" sz="2400" b="1" u="none" strike="noStrike" dirty="0">
                          <a:effectLst/>
                        </a:rPr>
                        <a:t>ŠTUDENTI</a:t>
                      </a:r>
                      <a:endParaRPr lang="sk-SK" sz="2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3602" marR="183602" marT="91801" marB="91801" anchor="b">
                    <a:solidFill>
                      <a:srgbClr val="865D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6770898"/>
                  </a:ext>
                </a:extLst>
              </a:tr>
              <a:tr h="43350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sk-SK" sz="2400" b="1" u="none" strike="noStrike" dirty="0">
                          <a:effectLst/>
                        </a:rPr>
                        <a:t>meno</a:t>
                      </a:r>
                      <a:endParaRPr lang="sk-SK" sz="2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125" marR="19125" marT="19125" marB="0" anchor="b">
                    <a:solidFill>
                      <a:srgbClr val="865D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sk-SK" sz="2400" b="1" u="none" strike="noStrike" dirty="0">
                          <a:effectLst/>
                        </a:rPr>
                        <a:t>vek</a:t>
                      </a:r>
                      <a:endParaRPr lang="sk-SK" sz="2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125" marR="19125" marT="19125" marB="0" anchor="b">
                    <a:solidFill>
                      <a:srgbClr val="865D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sk-SK" sz="2400" b="1" u="none" strike="noStrike" dirty="0">
                          <a:effectLst/>
                        </a:rPr>
                        <a:t>predmet</a:t>
                      </a:r>
                      <a:endParaRPr lang="sk-SK" sz="2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125" marR="19125" marT="19125" marB="0" anchor="b">
                    <a:solidFill>
                      <a:srgbClr val="865D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sk-SK" sz="2400" b="1" u="none" strike="noStrike" dirty="0">
                          <a:effectLst/>
                        </a:rPr>
                        <a:t>známka</a:t>
                      </a:r>
                      <a:endParaRPr lang="sk-SK" sz="2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125" marR="19125" marT="19125" marB="0" anchor="b">
                    <a:solidFill>
                      <a:srgbClr val="865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404169"/>
                  </a:ext>
                </a:extLst>
              </a:tr>
              <a:tr h="43350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sk-SK" sz="2400" u="none" strike="noStrike" dirty="0">
                          <a:effectLst/>
                        </a:rPr>
                        <a:t>Miloš</a:t>
                      </a:r>
                      <a:endParaRPr lang="sk-SK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125" marR="19125" marT="19125" marB="0" anchor="b">
                    <a:solidFill>
                      <a:srgbClr val="FFA3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sk-SK" sz="2400" u="none" strike="noStrike" dirty="0">
                          <a:effectLst/>
                        </a:rPr>
                        <a:t>67</a:t>
                      </a:r>
                      <a:endParaRPr lang="sk-SK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125" marR="19125" marT="19125" marB="0" anchor="b">
                    <a:solidFill>
                      <a:srgbClr val="FFA3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sk-SK" sz="2400" u="none" strike="noStrike" dirty="0">
                          <a:effectLst/>
                        </a:rPr>
                        <a:t>MAT</a:t>
                      </a:r>
                      <a:endParaRPr lang="sk-SK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125" marR="19125" marT="19125" marB="0" anchor="b">
                    <a:solidFill>
                      <a:srgbClr val="FFA3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sk-SK" sz="2400" u="none" strike="noStrike" dirty="0">
                          <a:effectLst/>
                        </a:rPr>
                        <a:t>1</a:t>
                      </a:r>
                      <a:endParaRPr lang="sk-SK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125" marR="19125" marT="19125" marB="0" anchor="b">
                    <a:solidFill>
                      <a:srgbClr val="FFA3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4754500"/>
                  </a:ext>
                </a:extLst>
              </a:tr>
              <a:tr h="40800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sk-SK" sz="2400" u="none" strike="noStrike" dirty="0">
                          <a:effectLst/>
                        </a:rPr>
                        <a:t>Marek</a:t>
                      </a:r>
                      <a:endParaRPr lang="sk-SK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125" marR="19125" marT="19125" marB="0" anchor="b">
                    <a:solidFill>
                      <a:srgbClr val="FFA3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sk-SK" sz="2400" u="none" strike="noStrike" dirty="0">
                          <a:effectLst/>
                        </a:rPr>
                        <a:t>17</a:t>
                      </a:r>
                      <a:endParaRPr lang="sk-SK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125" marR="19125" marT="19125" marB="0" anchor="b">
                    <a:solidFill>
                      <a:srgbClr val="FFA3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sk-SK" sz="2400" u="none" strike="noStrike" dirty="0">
                          <a:effectLst/>
                        </a:rPr>
                        <a:t>ANJ</a:t>
                      </a:r>
                      <a:endParaRPr lang="sk-SK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125" marR="19125" marT="19125" marB="0" anchor="b">
                    <a:solidFill>
                      <a:srgbClr val="FFA3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sk-SK" sz="2400" u="none" strike="noStrike" dirty="0">
                          <a:effectLst/>
                        </a:rPr>
                        <a:t>3</a:t>
                      </a:r>
                      <a:endParaRPr lang="sk-SK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125" marR="19125" marT="19125" marB="0" anchor="b">
                    <a:solidFill>
                      <a:srgbClr val="FFA3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5938091"/>
                  </a:ext>
                </a:extLst>
              </a:tr>
              <a:tr h="40800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sk-SK" sz="2400" u="none" strike="noStrike" dirty="0">
                          <a:effectLst/>
                        </a:rPr>
                        <a:t>Jozef</a:t>
                      </a:r>
                      <a:endParaRPr lang="sk-SK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125" marR="19125" marT="19125" marB="0" anchor="b">
                    <a:solidFill>
                      <a:srgbClr val="FFA3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sk-SK" sz="2400" u="none" strike="noStrike" dirty="0">
                          <a:effectLst/>
                        </a:rPr>
                        <a:t>16</a:t>
                      </a:r>
                      <a:endParaRPr lang="sk-SK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125" marR="19125" marT="19125" marB="0" anchor="b">
                    <a:solidFill>
                      <a:srgbClr val="FFA3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sk-SK" sz="2400" u="none" strike="noStrike" dirty="0">
                          <a:effectLst/>
                        </a:rPr>
                        <a:t>OCJ</a:t>
                      </a:r>
                      <a:endParaRPr lang="sk-SK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125" marR="19125" marT="19125" marB="0" anchor="b">
                    <a:solidFill>
                      <a:srgbClr val="FFA3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sk-SK" sz="2400" u="none" strike="noStrike" dirty="0">
                          <a:effectLst/>
                        </a:rPr>
                        <a:t>2</a:t>
                      </a:r>
                      <a:endParaRPr lang="sk-SK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125" marR="19125" marT="19125" marB="0" anchor="b">
                    <a:solidFill>
                      <a:srgbClr val="FFA3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3947233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0528F143-8EC7-E787-E8E4-B420C2439455}"/>
              </a:ext>
            </a:extLst>
          </p:cNvPr>
          <p:cNvSpPr/>
          <p:nvPr/>
        </p:nvSpPr>
        <p:spPr>
          <a:xfrm>
            <a:off x="2780956" y="3323063"/>
            <a:ext cx="6630088" cy="41259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3D1825-A9F5-505C-C471-B5DEE986C4B3}"/>
              </a:ext>
            </a:extLst>
          </p:cNvPr>
          <p:cNvSpPr txBox="1"/>
          <p:nvPr/>
        </p:nvSpPr>
        <p:spPr>
          <a:xfrm>
            <a:off x="1052907" y="3290834"/>
            <a:ext cx="160108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2500" b="1" dirty="0">
                <a:solidFill>
                  <a:srgbClr val="FF0000"/>
                </a:solidFill>
                <a:latin typeface="Clother" pitchFamily="2" charset="-79"/>
                <a:cs typeface="Clother" pitchFamily="2" charset="-79"/>
              </a:rPr>
              <a:t>1 študent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5ADBB6-332A-1FA4-B7A2-A69ADC7A8605}"/>
              </a:ext>
            </a:extLst>
          </p:cNvPr>
          <p:cNvSpPr/>
          <p:nvPr/>
        </p:nvSpPr>
        <p:spPr>
          <a:xfrm>
            <a:off x="6096000" y="2865863"/>
            <a:ext cx="1665249" cy="1679329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A7B608-4B22-DB73-D90E-9D5BBA9B2CAC}"/>
              </a:ext>
            </a:extLst>
          </p:cNvPr>
          <p:cNvSpPr txBox="1"/>
          <p:nvPr/>
        </p:nvSpPr>
        <p:spPr>
          <a:xfrm>
            <a:off x="4625471" y="4745914"/>
            <a:ext cx="4695516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sz="2500" b="1" dirty="0">
                <a:solidFill>
                  <a:schemeClr val="accent3"/>
                </a:solidFill>
                <a:latin typeface="Clother" pitchFamily="2" charset="-79"/>
                <a:cs typeface="Clother" pitchFamily="2" charset="-79"/>
              </a:rPr>
              <a:t>1 atribút tabuľky (dokopy sú 4)</a:t>
            </a:r>
          </a:p>
        </p:txBody>
      </p:sp>
    </p:spTree>
    <p:extLst>
      <p:ext uri="{BB962C8B-B14F-4D97-AF65-F5344CB8AC3E}">
        <p14:creationId xmlns:p14="http://schemas.microsoft.com/office/powerpoint/2010/main" val="1105493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427CC-6603-F33C-EA6B-CA499297B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BE574-D05C-760C-B9D7-345C476AA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3915" y="1797641"/>
            <a:ext cx="3932237" cy="732321"/>
          </a:xfrm>
        </p:spPr>
        <p:txBody>
          <a:bodyPr/>
          <a:lstStyle/>
          <a:p>
            <a:r>
              <a:rPr lang="sk-SK" dirty="0"/>
              <a:t>POUŽITÝ DATASET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090D53-2E22-AC11-9B13-93404F4BC0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23915" y="2680774"/>
            <a:ext cx="3932237" cy="2189365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sk-SK" dirty="0"/>
              <a:t>300 </a:t>
            </a:r>
            <a:r>
              <a:rPr lang="sk-SK" dirty="0">
                <a:solidFill>
                  <a:schemeClr val="bg1"/>
                </a:solidFill>
              </a:rPr>
              <a:t>pacientov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k-SK" dirty="0"/>
              <a:t>12</a:t>
            </a:r>
            <a:r>
              <a:rPr lang="sk-SK" dirty="0">
                <a:solidFill>
                  <a:schemeClr val="bg1"/>
                </a:solidFill>
              </a:rPr>
              <a:t> atribútov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k-SK" dirty="0">
                <a:solidFill>
                  <a:schemeClr val="bg1"/>
                </a:solidFill>
              </a:rPr>
              <a:t>Atribúty popisujú </a:t>
            </a:r>
            <a:r>
              <a:rPr lang="sk-SK" dirty="0"/>
              <a:t>pacientov vek, vlastnosti krvi a srdca...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k-SK" dirty="0">
                <a:solidFill>
                  <a:schemeClr val="bg1"/>
                </a:solidFill>
              </a:rPr>
              <a:t>Popis údajov na </a:t>
            </a:r>
            <a:r>
              <a:rPr lang="sk-SK" dirty="0"/>
              <a:t>stránke</a:t>
            </a:r>
            <a:r>
              <a:rPr lang="sk-SK" baseline="30000" dirty="0"/>
              <a:t>1</a:t>
            </a:r>
            <a:endParaRPr lang="sk-SK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sk-SK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sk-S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6B0F980-75D2-F881-F27C-1F5D0BE08E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0" y="691589"/>
            <a:ext cx="4249271" cy="4680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4070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EAB27-7143-EAA3-4F57-3655C3AD4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k-SK" dirty="0"/>
              <a:t>POUŽITÝ DATASET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BDF3A6A-789F-C437-68FF-4A643EF620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1205734"/>
              </p:ext>
            </p:extLst>
          </p:nvPr>
        </p:nvGraphicFramePr>
        <p:xfrm>
          <a:off x="198237" y="2375210"/>
          <a:ext cx="11795527" cy="237716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95306">
                  <a:extLst>
                    <a:ext uri="{9D8B030D-6E8A-4147-A177-3AD203B41FA5}">
                      <a16:colId xmlns:a16="http://schemas.microsoft.com/office/drawing/2014/main" val="3551977613"/>
                    </a:ext>
                  </a:extLst>
                </a:gridCol>
                <a:gridCol w="795306">
                  <a:extLst>
                    <a:ext uri="{9D8B030D-6E8A-4147-A177-3AD203B41FA5}">
                      <a16:colId xmlns:a16="http://schemas.microsoft.com/office/drawing/2014/main" val="1037647118"/>
                    </a:ext>
                  </a:extLst>
                </a:gridCol>
                <a:gridCol w="1694218">
                  <a:extLst>
                    <a:ext uri="{9D8B030D-6E8A-4147-A177-3AD203B41FA5}">
                      <a16:colId xmlns:a16="http://schemas.microsoft.com/office/drawing/2014/main" val="1612026969"/>
                    </a:ext>
                  </a:extLst>
                </a:gridCol>
                <a:gridCol w="795306">
                  <a:extLst>
                    <a:ext uri="{9D8B030D-6E8A-4147-A177-3AD203B41FA5}">
                      <a16:colId xmlns:a16="http://schemas.microsoft.com/office/drawing/2014/main" val="4021125920"/>
                    </a:ext>
                  </a:extLst>
                </a:gridCol>
                <a:gridCol w="1109164">
                  <a:extLst>
                    <a:ext uri="{9D8B030D-6E8A-4147-A177-3AD203B41FA5}">
                      <a16:colId xmlns:a16="http://schemas.microsoft.com/office/drawing/2014/main" val="3884683820"/>
                    </a:ext>
                  </a:extLst>
                </a:gridCol>
                <a:gridCol w="1343795">
                  <a:extLst>
                    <a:ext uri="{9D8B030D-6E8A-4147-A177-3AD203B41FA5}">
                      <a16:colId xmlns:a16="http://schemas.microsoft.com/office/drawing/2014/main" val="4116861164"/>
                    </a:ext>
                  </a:extLst>
                </a:gridCol>
                <a:gridCol w="860163">
                  <a:extLst>
                    <a:ext uri="{9D8B030D-6E8A-4147-A177-3AD203B41FA5}">
                      <a16:colId xmlns:a16="http://schemas.microsoft.com/office/drawing/2014/main" val="1301692253"/>
                    </a:ext>
                  </a:extLst>
                </a:gridCol>
                <a:gridCol w="1029073">
                  <a:extLst>
                    <a:ext uri="{9D8B030D-6E8A-4147-A177-3AD203B41FA5}">
                      <a16:colId xmlns:a16="http://schemas.microsoft.com/office/drawing/2014/main" val="3468462791"/>
                    </a:ext>
                  </a:extLst>
                </a:gridCol>
                <a:gridCol w="987278">
                  <a:extLst>
                    <a:ext uri="{9D8B030D-6E8A-4147-A177-3AD203B41FA5}">
                      <a16:colId xmlns:a16="http://schemas.microsoft.com/office/drawing/2014/main" val="934288543"/>
                    </a:ext>
                  </a:extLst>
                </a:gridCol>
                <a:gridCol w="795306">
                  <a:extLst>
                    <a:ext uri="{9D8B030D-6E8A-4147-A177-3AD203B41FA5}">
                      <a16:colId xmlns:a16="http://schemas.microsoft.com/office/drawing/2014/main" val="891206718"/>
                    </a:ext>
                  </a:extLst>
                </a:gridCol>
                <a:gridCol w="795306">
                  <a:extLst>
                    <a:ext uri="{9D8B030D-6E8A-4147-A177-3AD203B41FA5}">
                      <a16:colId xmlns:a16="http://schemas.microsoft.com/office/drawing/2014/main" val="3204169589"/>
                    </a:ext>
                  </a:extLst>
                </a:gridCol>
                <a:gridCol w="795306">
                  <a:extLst>
                    <a:ext uri="{9D8B030D-6E8A-4147-A177-3AD203B41FA5}">
                      <a16:colId xmlns:a16="http://schemas.microsoft.com/office/drawing/2014/main" val="3506732259"/>
                    </a:ext>
                  </a:extLst>
                </a:gridCol>
              </a:tblGrid>
              <a:tr h="64206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500" b="1" u="none" strike="noStrike" dirty="0">
                          <a:solidFill>
                            <a:schemeClr val="bg1"/>
                          </a:solidFill>
                          <a:effectLst/>
                          <a:latin typeface="Clother" pitchFamily="2" charset="-79"/>
                          <a:cs typeface="Clother" pitchFamily="2" charset="-79"/>
                        </a:rPr>
                        <a:t>age</a:t>
                      </a:r>
                      <a:endParaRPr lang="en-US" sz="1500" b="1" i="0" u="none" strike="noStrike" dirty="0">
                        <a:solidFill>
                          <a:schemeClr val="bg1"/>
                        </a:solidFill>
                        <a:effectLst/>
                        <a:latin typeface="Clother" pitchFamily="2" charset="-79"/>
                        <a:cs typeface="Clother" pitchFamily="2" charset="-79"/>
                      </a:endParaRPr>
                    </a:p>
                  </a:txBody>
                  <a:tcPr marL="8715" marR="8715" marT="8715" marB="0" anchor="ctr">
                    <a:solidFill>
                      <a:srgbClr val="865D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500" b="1" u="none" strike="noStrike" dirty="0" err="1">
                          <a:solidFill>
                            <a:schemeClr val="bg1"/>
                          </a:solidFill>
                          <a:effectLst/>
                          <a:latin typeface="Clother" pitchFamily="2" charset="-79"/>
                          <a:cs typeface="Clother" pitchFamily="2" charset="-79"/>
                        </a:rPr>
                        <a:t>anaemia</a:t>
                      </a:r>
                      <a:endParaRPr lang="en-US" sz="1500" b="1" i="0" u="none" strike="noStrike" dirty="0">
                        <a:solidFill>
                          <a:schemeClr val="bg1"/>
                        </a:solidFill>
                        <a:effectLst/>
                        <a:latin typeface="Clother" pitchFamily="2" charset="-79"/>
                        <a:cs typeface="Clother" pitchFamily="2" charset="-79"/>
                      </a:endParaRPr>
                    </a:p>
                  </a:txBody>
                  <a:tcPr marL="8715" marR="8715" marT="8715" marB="0" anchor="ctr">
                    <a:solidFill>
                      <a:srgbClr val="865D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500" b="1" i="0" u="none" strike="noStrike" dirty="0">
                          <a:solidFill>
                            <a:schemeClr val="bg1"/>
                          </a:solidFill>
                          <a:effectLst/>
                          <a:latin typeface="Clother" pitchFamily="2" charset="-79"/>
                          <a:cs typeface="Clother" pitchFamily="2" charset="-79"/>
                        </a:rPr>
                        <a:t>creatinine </a:t>
                      </a:r>
                      <a:r>
                        <a:rPr lang="en-US" sz="15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Clother" pitchFamily="2" charset="-79"/>
                          <a:cs typeface="Clother" pitchFamily="2" charset="-79"/>
                        </a:rPr>
                        <a:t>phosphokinese</a:t>
                      </a:r>
                      <a:endParaRPr lang="en-US" sz="1500" b="1" i="0" u="none" strike="noStrike" dirty="0">
                        <a:solidFill>
                          <a:schemeClr val="bg1"/>
                        </a:solidFill>
                        <a:effectLst/>
                        <a:latin typeface="Clother" pitchFamily="2" charset="-79"/>
                        <a:cs typeface="Clother" pitchFamily="2" charset="-79"/>
                      </a:endParaRPr>
                    </a:p>
                  </a:txBody>
                  <a:tcPr marL="8715" marR="8715" marT="8715" marB="0" anchor="ctr">
                    <a:solidFill>
                      <a:srgbClr val="865D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500" b="1" u="none" strike="noStrike" dirty="0">
                          <a:solidFill>
                            <a:schemeClr val="bg1"/>
                          </a:solidFill>
                          <a:effectLst/>
                          <a:latin typeface="Clother" pitchFamily="2" charset="-79"/>
                          <a:cs typeface="Clother" pitchFamily="2" charset="-79"/>
                        </a:rPr>
                        <a:t>diabetes</a:t>
                      </a:r>
                      <a:endParaRPr lang="en-US" sz="1500" b="1" i="0" u="none" strike="noStrike" dirty="0">
                        <a:solidFill>
                          <a:schemeClr val="bg1"/>
                        </a:solidFill>
                        <a:effectLst/>
                        <a:latin typeface="Clother" pitchFamily="2" charset="-79"/>
                        <a:cs typeface="Clother" pitchFamily="2" charset="-79"/>
                      </a:endParaRPr>
                    </a:p>
                  </a:txBody>
                  <a:tcPr marL="8715" marR="8715" marT="8715" marB="0" anchor="ctr">
                    <a:solidFill>
                      <a:srgbClr val="865D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500" b="1" u="none" strike="noStrike" dirty="0">
                          <a:solidFill>
                            <a:schemeClr val="bg1"/>
                          </a:solidFill>
                          <a:effectLst/>
                          <a:latin typeface="Clother" pitchFamily="2" charset="-79"/>
                          <a:cs typeface="Clother" pitchFamily="2" charset="-79"/>
                        </a:rPr>
                        <a:t>Ejection Fraction</a:t>
                      </a:r>
                      <a:endParaRPr lang="en-US" sz="1500" b="1" i="0" u="none" strike="noStrike" dirty="0">
                        <a:solidFill>
                          <a:schemeClr val="bg1"/>
                        </a:solidFill>
                        <a:effectLst/>
                        <a:latin typeface="Clother" pitchFamily="2" charset="-79"/>
                        <a:cs typeface="Clother" pitchFamily="2" charset="-79"/>
                      </a:endParaRPr>
                    </a:p>
                  </a:txBody>
                  <a:tcPr marL="8715" marR="8715" marT="8715" marB="0" anchor="ctr">
                    <a:solidFill>
                      <a:srgbClr val="865D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500" b="1" i="0" u="none" strike="noStrike" dirty="0">
                          <a:solidFill>
                            <a:schemeClr val="bg1"/>
                          </a:solidFill>
                          <a:effectLst/>
                          <a:latin typeface="Clother" pitchFamily="2" charset="-79"/>
                          <a:cs typeface="Clother" pitchFamily="2" charset="-79"/>
                        </a:rPr>
                        <a:t>High blood pressure</a:t>
                      </a:r>
                    </a:p>
                  </a:txBody>
                  <a:tcPr marL="8715" marR="8715" marT="8715" marB="0" anchor="ctr">
                    <a:solidFill>
                      <a:srgbClr val="865D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500" b="1" u="none" strike="noStrike" dirty="0">
                          <a:solidFill>
                            <a:schemeClr val="bg1"/>
                          </a:solidFill>
                          <a:effectLst/>
                          <a:latin typeface="Clother" pitchFamily="2" charset="-79"/>
                          <a:cs typeface="Clother" pitchFamily="2" charset="-79"/>
                        </a:rPr>
                        <a:t>platelet</a:t>
                      </a:r>
                    </a:p>
                    <a:p>
                      <a:pPr algn="ctr" fontAlgn="b">
                        <a:buNone/>
                      </a:pPr>
                      <a:r>
                        <a:rPr lang="en-US" sz="1500" b="1" i="0" u="none" strike="noStrike" dirty="0">
                          <a:solidFill>
                            <a:schemeClr val="bg1"/>
                          </a:solidFill>
                          <a:effectLst/>
                          <a:latin typeface="Clother" pitchFamily="2" charset="-79"/>
                          <a:cs typeface="Clother" pitchFamily="2" charset="-79"/>
                        </a:rPr>
                        <a:t>count</a:t>
                      </a:r>
                    </a:p>
                  </a:txBody>
                  <a:tcPr marL="8715" marR="8715" marT="8715" marB="0" anchor="ctr">
                    <a:solidFill>
                      <a:srgbClr val="865D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500" b="1" u="none" strike="noStrike" dirty="0">
                          <a:solidFill>
                            <a:schemeClr val="bg1"/>
                          </a:solidFill>
                          <a:effectLst/>
                          <a:latin typeface="Clother" pitchFamily="2" charset="-79"/>
                          <a:cs typeface="Clother" pitchFamily="2" charset="-79"/>
                        </a:rPr>
                        <a:t>serum creatinine</a:t>
                      </a:r>
                      <a:endParaRPr lang="en-US" sz="1500" b="1" i="0" u="none" strike="noStrike" dirty="0">
                        <a:solidFill>
                          <a:schemeClr val="bg1"/>
                        </a:solidFill>
                        <a:effectLst/>
                        <a:latin typeface="Clother" pitchFamily="2" charset="-79"/>
                        <a:cs typeface="Clother" pitchFamily="2" charset="-79"/>
                      </a:endParaRPr>
                    </a:p>
                  </a:txBody>
                  <a:tcPr marL="8715" marR="8715" marT="8715" marB="0" anchor="ctr">
                    <a:solidFill>
                      <a:srgbClr val="865D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500" b="1" u="none" strike="noStrike" dirty="0">
                          <a:solidFill>
                            <a:schemeClr val="bg1"/>
                          </a:solidFill>
                          <a:effectLst/>
                          <a:latin typeface="Clother" pitchFamily="2" charset="-79"/>
                          <a:cs typeface="Clother" pitchFamily="2" charset="-79"/>
                        </a:rPr>
                        <a:t>serum sodium</a:t>
                      </a:r>
                      <a:endParaRPr lang="en-US" sz="1500" b="1" i="0" u="none" strike="noStrike" dirty="0">
                        <a:solidFill>
                          <a:schemeClr val="bg1"/>
                        </a:solidFill>
                        <a:effectLst/>
                        <a:latin typeface="Clother" pitchFamily="2" charset="-79"/>
                        <a:cs typeface="Clother" pitchFamily="2" charset="-79"/>
                      </a:endParaRPr>
                    </a:p>
                  </a:txBody>
                  <a:tcPr marL="8715" marR="8715" marT="8715" marB="0" anchor="ctr">
                    <a:solidFill>
                      <a:srgbClr val="865D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500" b="1" u="none" strike="noStrike" dirty="0">
                          <a:solidFill>
                            <a:schemeClr val="bg1"/>
                          </a:solidFill>
                          <a:effectLst/>
                          <a:latin typeface="Clother" pitchFamily="2" charset="-79"/>
                          <a:cs typeface="Clother" pitchFamily="2" charset="-79"/>
                        </a:rPr>
                        <a:t>sex</a:t>
                      </a:r>
                      <a:endParaRPr lang="en-US" sz="1500" b="1" i="0" u="none" strike="noStrike" dirty="0">
                        <a:solidFill>
                          <a:schemeClr val="bg1"/>
                        </a:solidFill>
                        <a:effectLst/>
                        <a:latin typeface="Clother" pitchFamily="2" charset="-79"/>
                        <a:cs typeface="Clother" pitchFamily="2" charset="-79"/>
                      </a:endParaRPr>
                    </a:p>
                  </a:txBody>
                  <a:tcPr marL="8715" marR="8715" marT="8715" marB="0" anchor="ctr">
                    <a:solidFill>
                      <a:srgbClr val="865D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500" b="1" u="none" strike="noStrike" dirty="0">
                          <a:solidFill>
                            <a:schemeClr val="bg1"/>
                          </a:solidFill>
                          <a:effectLst/>
                          <a:latin typeface="Clother" pitchFamily="2" charset="-79"/>
                          <a:cs typeface="Clother" pitchFamily="2" charset="-79"/>
                        </a:rPr>
                        <a:t>smoking</a:t>
                      </a:r>
                      <a:endParaRPr lang="en-US" sz="1500" b="1" i="0" u="none" strike="noStrike" dirty="0">
                        <a:solidFill>
                          <a:schemeClr val="bg1"/>
                        </a:solidFill>
                        <a:effectLst/>
                        <a:latin typeface="Clother" pitchFamily="2" charset="-79"/>
                        <a:cs typeface="Clother" pitchFamily="2" charset="-79"/>
                      </a:endParaRPr>
                    </a:p>
                  </a:txBody>
                  <a:tcPr marL="8715" marR="8715" marT="8715" marB="0" anchor="ctr">
                    <a:solidFill>
                      <a:srgbClr val="865D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500" b="1" u="none" strike="noStrike" dirty="0">
                          <a:solidFill>
                            <a:schemeClr val="bg1"/>
                          </a:solidFill>
                          <a:effectLst/>
                          <a:latin typeface="Clother" pitchFamily="2" charset="-79"/>
                          <a:cs typeface="Clother" pitchFamily="2" charset="-79"/>
                        </a:rPr>
                        <a:t>time</a:t>
                      </a:r>
                      <a:endParaRPr lang="en-US" sz="1500" b="1" i="0" u="none" strike="noStrike" dirty="0">
                        <a:solidFill>
                          <a:schemeClr val="bg1"/>
                        </a:solidFill>
                        <a:effectLst/>
                        <a:latin typeface="Clother" pitchFamily="2" charset="-79"/>
                        <a:cs typeface="Clother" pitchFamily="2" charset="-79"/>
                      </a:endParaRPr>
                    </a:p>
                  </a:txBody>
                  <a:tcPr marL="8715" marR="8715" marT="8715" marB="0" anchor="ctr">
                    <a:solidFill>
                      <a:srgbClr val="865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3901002"/>
                  </a:ext>
                </a:extLst>
              </a:tr>
              <a:tr h="34702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1" u="none" strike="noStrike" dirty="0">
                          <a:effectLst/>
                          <a:latin typeface="Clother" pitchFamily="2" charset="-79"/>
                          <a:cs typeface="Clother" pitchFamily="2" charset="-79"/>
                        </a:rPr>
                        <a:t>75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Clother" pitchFamily="2" charset="-79"/>
                        <a:cs typeface="Clother" pitchFamily="2" charset="-79"/>
                      </a:endParaRPr>
                    </a:p>
                  </a:txBody>
                  <a:tcPr marL="8715" marR="8715" marT="8715" marB="0" anchor="b">
                    <a:solidFill>
                      <a:srgbClr val="FFA3F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1" u="none" strike="noStrike" dirty="0">
                          <a:effectLst/>
                          <a:latin typeface="Clother" pitchFamily="2" charset="-79"/>
                          <a:cs typeface="Clother" pitchFamily="2" charset="-79"/>
                        </a:rPr>
                        <a:t>0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Clother" pitchFamily="2" charset="-79"/>
                        <a:cs typeface="Clother" pitchFamily="2" charset="-79"/>
                      </a:endParaRPr>
                    </a:p>
                  </a:txBody>
                  <a:tcPr marL="8715" marR="8715" marT="8715" marB="0" anchor="b">
                    <a:solidFill>
                      <a:srgbClr val="FFA3F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1" u="none" strike="noStrike" dirty="0">
                          <a:effectLst/>
                          <a:latin typeface="Clother" pitchFamily="2" charset="-79"/>
                          <a:cs typeface="Clother" pitchFamily="2" charset="-79"/>
                        </a:rPr>
                        <a:t>582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Clother" pitchFamily="2" charset="-79"/>
                        <a:cs typeface="Clother" pitchFamily="2" charset="-79"/>
                      </a:endParaRPr>
                    </a:p>
                  </a:txBody>
                  <a:tcPr marL="8715" marR="8715" marT="8715" marB="0" anchor="b">
                    <a:solidFill>
                      <a:srgbClr val="FFA3F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1" u="none" strike="noStrike" dirty="0">
                          <a:effectLst/>
                          <a:latin typeface="Clother" pitchFamily="2" charset="-79"/>
                          <a:cs typeface="Clother" pitchFamily="2" charset="-79"/>
                        </a:rPr>
                        <a:t>0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Clother" pitchFamily="2" charset="-79"/>
                        <a:cs typeface="Clother" pitchFamily="2" charset="-79"/>
                      </a:endParaRPr>
                    </a:p>
                  </a:txBody>
                  <a:tcPr marL="8715" marR="8715" marT="8715" marB="0" anchor="b">
                    <a:solidFill>
                      <a:srgbClr val="FFA3F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1" u="none" strike="noStrike" dirty="0">
                          <a:effectLst/>
                          <a:latin typeface="Clother" pitchFamily="2" charset="-79"/>
                          <a:cs typeface="Clother" pitchFamily="2" charset="-79"/>
                        </a:rPr>
                        <a:t>20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Clother" pitchFamily="2" charset="-79"/>
                        <a:cs typeface="Clother" pitchFamily="2" charset="-79"/>
                      </a:endParaRPr>
                    </a:p>
                  </a:txBody>
                  <a:tcPr marL="8715" marR="8715" marT="8715" marB="0" anchor="b">
                    <a:solidFill>
                      <a:srgbClr val="FFA3F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1" u="none" strike="noStrike" dirty="0">
                          <a:effectLst/>
                          <a:latin typeface="Clother" pitchFamily="2" charset="-79"/>
                          <a:cs typeface="Clother" pitchFamily="2" charset="-79"/>
                        </a:rPr>
                        <a:t>1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Clother" pitchFamily="2" charset="-79"/>
                        <a:cs typeface="Clother" pitchFamily="2" charset="-79"/>
                      </a:endParaRPr>
                    </a:p>
                  </a:txBody>
                  <a:tcPr marL="8715" marR="8715" marT="8715" marB="0" anchor="b">
                    <a:solidFill>
                      <a:srgbClr val="FFA3F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1" u="none" strike="noStrike" dirty="0">
                          <a:effectLst/>
                          <a:latin typeface="Clother" pitchFamily="2" charset="-79"/>
                          <a:cs typeface="Clother" pitchFamily="2" charset="-79"/>
                        </a:rPr>
                        <a:t>265000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Clother" pitchFamily="2" charset="-79"/>
                        <a:cs typeface="Clother" pitchFamily="2" charset="-79"/>
                      </a:endParaRPr>
                    </a:p>
                  </a:txBody>
                  <a:tcPr marL="8715" marR="8715" marT="8715" marB="0" anchor="b">
                    <a:solidFill>
                      <a:srgbClr val="FFA3F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1" u="none" strike="noStrike" dirty="0">
                          <a:effectLst/>
                          <a:latin typeface="Clother" pitchFamily="2" charset="-79"/>
                          <a:cs typeface="Clother" pitchFamily="2" charset="-79"/>
                        </a:rPr>
                        <a:t>1.9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Clother" pitchFamily="2" charset="-79"/>
                        <a:cs typeface="Clother" pitchFamily="2" charset="-79"/>
                      </a:endParaRPr>
                    </a:p>
                  </a:txBody>
                  <a:tcPr marL="8715" marR="8715" marT="8715" marB="0" anchor="b">
                    <a:solidFill>
                      <a:srgbClr val="FFA3F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1" u="none" strike="noStrike" dirty="0">
                          <a:effectLst/>
                          <a:latin typeface="Clother" pitchFamily="2" charset="-79"/>
                          <a:cs typeface="Clother" pitchFamily="2" charset="-79"/>
                        </a:rPr>
                        <a:t>130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Clother" pitchFamily="2" charset="-79"/>
                        <a:cs typeface="Clother" pitchFamily="2" charset="-79"/>
                      </a:endParaRPr>
                    </a:p>
                  </a:txBody>
                  <a:tcPr marL="8715" marR="8715" marT="8715" marB="0" anchor="b">
                    <a:solidFill>
                      <a:srgbClr val="FFA3F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1" u="none" strike="noStrike" dirty="0">
                          <a:effectLst/>
                          <a:latin typeface="Clother" pitchFamily="2" charset="-79"/>
                          <a:cs typeface="Clother" pitchFamily="2" charset="-79"/>
                        </a:rPr>
                        <a:t>1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Clother" pitchFamily="2" charset="-79"/>
                        <a:cs typeface="Clother" pitchFamily="2" charset="-79"/>
                      </a:endParaRPr>
                    </a:p>
                  </a:txBody>
                  <a:tcPr marL="8715" marR="8715" marT="8715" marB="0" anchor="b">
                    <a:solidFill>
                      <a:srgbClr val="FFA3F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1" u="none" strike="noStrike" dirty="0">
                          <a:effectLst/>
                          <a:latin typeface="Clother" pitchFamily="2" charset="-79"/>
                          <a:cs typeface="Clother" pitchFamily="2" charset="-79"/>
                        </a:rPr>
                        <a:t>0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Clother" pitchFamily="2" charset="-79"/>
                        <a:cs typeface="Clother" pitchFamily="2" charset="-79"/>
                      </a:endParaRPr>
                    </a:p>
                  </a:txBody>
                  <a:tcPr marL="8715" marR="8715" marT="8715" marB="0" anchor="b">
                    <a:solidFill>
                      <a:srgbClr val="FFA3F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1" u="none" strike="noStrike" dirty="0">
                          <a:effectLst/>
                          <a:latin typeface="Clother" pitchFamily="2" charset="-79"/>
                          <a:cs typeface="Clother" pitchFamily="2" charset="-79"/>
                        </a:rPr>
                        <a:t>4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Clother" pitchFamily="2" charset="-79"/>
                        <a:cs typeface="Clother" pitchFamily="2" charset="-79"/>
                      </a:endParaRPr>
                    </a:p>
                  </a:txBody>
                  <a:tcPr marL="8715" marR="8715" marT="8715" marB="0" anchor="b">
                    <a:solidFill>
                      <a:srgbClr val="FFA3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45996"/>
                  </a:ext>
                </a:extLst>
              </a:tr>
              <a:tr h="34702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1" u="none" strike="noStrike">
                          <a:effectLst/>
                          <a:latin typeface="Clother" pitchFamily="2" charset="-79"/>
                          <a:cs typeface="Clother" pitchFamily="2" charset="-79"/>
                        </a:rPr>
                        <a:t>55</a:t>
                      </a: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Clother" pitchFamily="2" charset="-79"/>
                        <a:cs typeface="Clother" pitchFamily="2" charset="-79"/>
                      </a:endParaRPr>
                    </a:p>
                  </a:txBody>
                  <a:tcPr marL="8715" marR="8715" marT="8715" marB="0" anchor="b">
                    <a:solidFill>
                      <a:srgbClr val="FFA3F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1" u="none" strike="noStrike" dirty="0">
                          <a:effectLst/>
                          <a:latin typeface="Clother" pitchFamily="2" charset="-79"/>
                          <a:cs typeface="Clother" pitchFamily="2" charset="-79"/>
                        </a:rPr>
                        <a:t>0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Clother" pitchFamily="2" charset="-79"/>
                        <a:cs typeface="Clother" pitchFamily="2" charset="-79"/>
                      </a:endParaRPr>
                    </a:p>
                  </a:txBody>
                  <a:tcPr marL="8715" marR="8715" marT="8715" marB="0" anchor="b">
                    <a:solidFill>
                      <a:srgbClr val="FFA3F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1" u="none" strike="noStrike" dirty="0">
                          <a:effectLst/>
                          <a:latin typeface="Clother" pitchFamily="2" charset="-79"/>
                          <a:cs typeface="Clother" pitchFamily="2" charset="-79"/>
                        </a:rPr>
                        <a:t>7861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Clother" pitchFamily="2" charset="-79"/>
                        <a:cs typeface="Clother" pitchFamily="2" charset="-79"/>
                      </a:endParaRPr>
                    </a:p>
                  </a:txBody>
                  <a:tcPr marL="8715" marR="8715" marT="8715" marB="0" anchor="b">
                    <a:solidFill>
                      <a:srgbClr val="FFA3F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1" u="none" strike="noStrike" dirty="0">
                          <a:effectLst/>
                          <a:latin typeface="Clother" pitchFamily="2" charset="-79"/>
                          <a:cs typeface="Clother" pitchFamily="2" charset="-79"/>
                        </a:rPr>
                        <a:t>0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Clother" pitchFamily="2" charset="-79"/>
                        <a:cs typeface="Clother" pitchFamily="2" charset="-79"/>
                      </a:endParaRPr>
                    </a:p>
                  </a:txBody>
                  <a:tcPr marL="8715" marR="8715" marT="8715" marB="0" anchor="b">
                    <a:solidFill>
                      <a:srgbClr val="FFA3F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1" u="none" strike="noStrike">
                          <a:effectLst/>
                          <a:latin typeface="Clother" pitchFamily="2" charset="-79"/>
                          <a:cs typeface="Clother" pitchFamily="2" charset="-79"/>
                        </a:rPr>
                        <a:t>38</a:t>
                      </a: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Clother" pitchFamily="2" charset="-79"/>
                        <a:cs typeface="Clother" pitchFamily="2" charset="-79"/>
                      </a:endParaRPr>
                    </a:p>
                  </a:txBody>
                  <a:tcPr marL="8715" marR="8715" marT="8715" marB="0" anchor="b">
                    <a:solidFill>
                      <a:srgbClr val="FFA3F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1" u="none" strike="noStrike">
                          <a:effectLst/>
                          <a:latin typeface="Clother" pitchFamily="2" charset="-79"/>
                          <a:cs typeface="Clother" pitchFamily="2" charset="-79"/>
                        </a:rPr>
                        <a:t>0</a:t>
                      </a: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Clother" pitchFamily="2" charset="-79"/>
                        <a:cs typeface="Clother" pitchFamily="2" charset="-79"/>
                      </a:endParaRPr>
                    </a:p>
                  </a:txBody>
                  <a:tcPr marL="8715" marR="8715" marT="8715" marB="0" anchor="b">
                    <a:solidFill>
                      <a:srgbClr val="FFA3F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1" u="none" strike="noStrike">
                          <a:effectLst/>
                          <a:latin typeface="Clother" pitchFamily="2" charset="-79"/>
                          <a:cs typeface="Clother" pitchFamily="2" charset="-79"/>
                        </a:rPr>
                        <a:t>263358.03</a:t>
                      </a: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Clother" pitchFamily="2" charset="-79"/>
                        <a:cs typeface="Clother" pitchFamily="2" charset="-79"/>
                      </a:endParaRPr>
                    </a:p>
                  </a:txBody>
                  <a:tcPr marL="8715" marR="8715" marT="8715" marB="0" anchor="b">
                    <a:solidFill>
                      <a:srgbClr val="FFA3F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1" u="none" strike="noStrike">
                          <a:effectLst/>
                          <a:latin typeface="Clother" pitchFamily="2" charset="-79"/>
                          <a:cs typeface="Clother" pitchFamily="2" charset="-79"/>
                        </a:rPr>
                        <a:t>1.1</a:t>
                      </a: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Clother" pitchFamily="2" charset="-79"/>
                        <a:cs typeface="Clother" pitchFamily="2" charset="-79"/>
                      </a:endParaRPr>
                    </a:p>
                  </a:txBody>
                  <a:tcPr marL="8715" marR="8715" marT="8715" marB="0" anchor="b">
                    <a:solidFill>
                      <a:srgbClr val="FFA3F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1" u="none" strike="noStrike">
                          <a:effectLst/>
                          <a:latin typeface="Clother" pitchFamily="2" charset="-79"/>
                          <a:cs typeface="Clother" pitchFamily="2" charset="-79"/>
                        </a:rPr>
                        <a:t>136</a:t>
                      </a: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Clother" pitchFamily="2" charset="-79"/>
                        <a:cs typeface="Clother" pitchFamily="2" charset="-79"/>
                      </a:endParaRPr>
                    </a:p>
                  </a:txBody>
                  <a:tcPr marL="8715" marR="8715" marT="8715" marB="0" anchor="b">
                    <a:solidFill>
                      <a:srgbClr val="FFA3F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1" u="none" strike="noStrike">
                          <a:effectLst/>
                          <a:latin typeface="Clother" pitchFamily="2" charset="-79"/>
                          <a:cs typeface="Clother" pitchFamily="2" charset="-79"/>
                        </a:rPr>
                        <a:t>1</a:t>
                      </a: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Clother" pitchFamily="2" charset="-79"/>
                        <a:cs typeface="Clother" pitchFamily="2" charset="-79"/>
                      </a:endParaRPr>
                    </a:p>
                  </a:txBody>
                  <a:tcPr marL="8715" marR="8715" marT="8715" marB="0" anchor="b">
                    <a:solidFill>
                      <a:srgbClr val="FFA3F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1" u="none" strike="noStrike">
                          <a:effectLst/>
                          <a:latin typeface="Clother" pitchFamily="2" charset="-79"/>
                          <a:cs typeface="Clother" pitchFamily="2" charset="-79"/>
                        </a:rPr>
                        <a:t>0</a:t>
                      </a: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Clother" pitchFamily="2" charset="-79"/>
                        <a:cs typeface="Clother" pitchFamily="2" charset="-79"/>
                      </a:endParaRPr>
                    </a:p>
                  </a:txBody>
                  <a:tcPr marL="8715" marR="8715" marT="8715" marB="0" anchor="b">
                    <a:solidFill>
                      <a:srgbClr val="FFA3F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1" u="none" strike="noStrike" dirty="0">
                          <a:effectLst/>
                          <a:latin typeface="Clother" pitchFamily="2" charset="-79"/>
                          <a:cs typeface="Clother" pitchFamily="2" charset="-79"/>
                        </a:rPr>
                        <a:t>6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Clother" pitchFamily="2" charset="-79"/>
                        <a:cs typeface="Clother" pitchFamily="2" charset="-79"/>
                      </a:endParaRPr>
                    </a:p>
                  </a:txBody>
                  <a:tcPr marL="8715" marR="8715" marT="8715" marB="0" anchor="b">
                    <a:solidFill>
                      <a:srgbClr val="FFA3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4617858"/>
                  </a:ext>
                </a:extLst>
              </a:tr>
              <a:tr h="34702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1" u="none" strike="noStrike">
                          <a:effectLst/>
                          <a:latin typeface="Clother" pitchFamily="2" charset="-79"/>
                          <a:cs typeface="Clother" pitchFamily="2" charset="-79"/>
                        </a:rPr>
                        <a:t>65</a:t>
                      </a: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Clother" pitchFamily="2" charset="-79"/>
                        <a:cs typeface="Clother" pitchFamily="2" charset="-79"/>
                      </a:endParaRPr>
                    </a:p>
                  </a:txBody>
                  <a:tcPr marL="8715" marR="8715" marT="8715" marB="0" anchor="b">
                    <a:solidFill>
                      <a:srgbClr val="FFA3F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1" u="none" strike="noStrike">
                          <a:effectLst/>
                          <a:latin typeface="Clother" pitchFamily="2" charset="-79"/>
                          <a:cs typeface="Clother" pitchFamily="2" charset="-79"/>
                        </a:rPr>
                        <a:t>0</a:t>
                      </a: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Clother" pitchFamily="2" charset="-79"/>
                        <a:cs typeface="Clother" pitchFamily="2" charset="-79"/>
                      </a:endParaRPr>
                    </a:p>
                  </a:txBody>
                  <a:tcPr marL="8715" marR="8715" marT="8715" marB="0" anchor="b">
                    <a:solidFill>
                      <a:srgbClr val="FFA3F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1" u="none" strike="noStrike" dirty="0">
                          <a:effectLst/>
                          <a:latin typeface="Clother" pitchFamily="2" charset="-79"/>
                          <a:cs typeface="Clother" pitchFamily="2" charset="-79"/>
                        </a:rPr>
                        <a:t>146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Clother" pitchFamily="2" charset="-79"/>
                        <a:cs typeface="Clother" pitchFamily="2" charset="-79"/>
                      </a:endParaRPr>
                    </a:p>
                  </a:txBody>
                  <a:tcPr marL="8715" marR="8715" marT="8715" marB="0" anchor="b">
                    <a:solidFill>
                      <a:srgbClr val="FFA3F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1" u="none" strike="noStrike" dirty="0">
                          <a:effectLst/>
                          <a:latin typeface="Clother" pitchFamily="2" charset="-79"/>
                          <a:cs typeface="Clother" pitchFamily="2" charset="-79"/>
                        </a:rPr>
                        <a:t>0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Clother" pitchFamily="2" charset="-79"/>
                        <a:cs typeface="Clother" pitchFamily="2" charset="-79"/>
                      </a:endParaRPr>
                    </a:p>
                  </a:txBody>
                  <a:tcPr marL="8715" marR="8715" marT="8715" marB="0" anchor="b">
                    <a:solidFill>
                      <a:srgbClr val="FFA3F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1" u="none" strike="noStrike" dirty="0">
                          <a:effectLst/>
                          <a:latin typeface="Clother" pitchFamily="2" charset="-79"/>
                          <a:cs typeface="Clother" pitchFamily="2" charset="-79"/>
                        </a:rPr>
                        <a:t>20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Clother" pitchFamily="2" charset="-79"/>
                        <a:cs typeface="Clother" pitchFamily="2" charset="-79"/>
                      </a:endParaRPr>
                    </a:p>
                  </a:txBody>
                  <a:tcPr marL="8715" marR="8715" marT="8715" marB="0" anchor="b">
                    <a:solidFill>
                      <a:srgbClr val="FFA3F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1" u="none" strike="noStrike" dirty="0">
                          <a:effectLst/>
                          <a:latin typeface="Clother" pitchFamily="2" charset="-79"/>
                          <a:cs typeface="Clother" pitchFamily="2" charset="-79"/>
                        </a:rPr>
                        <a:t>0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Clother" pitchFamily="2" charset="-79"/>
                        <a:cs typeface="Clother" pitchFamily="2" charset="-79"/>
                      </a:endParaRPr>
                    </a:p>
                  </a:txBody>
                  <a:tcPr marL="8715" marR="8715" marT="8715" marB="0" anchor="b">
                    <a:solidFill>
                      <a:srgbClr val="FFA3F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1" u="none" strike="noStrike" dirty="0">
                          <a:effectLst/>
                          <a:latin typeface="Clother" pitchFamily="2" charset="-79"/>
                          <a:cs typeface="Clother" pitchFamily="2" charset="-79"/>
                        </a:rPr>
                        <a:t>162000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Clother" pitchFamily="2" charset="-79"/>
                        <a:cs typeface="Clother" pitchFamily="2" charset="-79"/>
                      </a:endParaRPr>
                    </a:p>
                  </a:txBody>
                  <a:tcPr marL="8715" marR="8715" marT="8715" marB="0" anchor="b">
                    <a:solidFill>
                      <a:srgbClr val="FFA3F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1" u="none" strike="noStrike">
                          <a:effectLst/>
                          <a:latin typeface="Clother" pitchFamily="2" charset="-79"/>
                          <a:cs typeface="Clother" pitchFamily="2" charset="-79"/>
                        </a:rPr>
                        <a:t>1.3</a:t>
                      </a: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Clother" pitchFamily="2" charset="-79"/>
                        <a:cs typeface="Clother" pitchFamily="2" charset="-79"/>
                      </a:endParaRPr>
                    </a:p>
                  </a:txBody>
                  <a:tcPr marL="8715" marR="8715" marT="8715" marB="0" anchor="b">
                    <a:solidFill>
                      <a:srgbClr val="FFA3F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1" u="none" strike="noStrike">
                          <a:effectLst/>
                          <a:latin typeface="Clother" pitchFamily="2" charset="-79"/>
                          <a:cs typeface="Clother" pitchFamily="2" charset="-79"/>
                        </a:rPr>
                        <a:t>129</a:t>
                      </a: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Clother" pitchFamily="2" charset="-79"/>
                        <a:cs typeface="Clother" pitchFamily="2" charset="-79"/>
                      </a:endParaRPr>
                    </a:p>
                  </a:txBody>
                  <a:tcPr marL="8715" marR="8715" marT="8715" marB="0" anchor="b">
                    <a:solidFill>
                      <a:srgbClr val="FFA3F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1" u="none" strike="noStrike" dirty="0">
                          <a:effectLst/>
                          <a:latin typeface="Clother" pitchFamily="2" charset="-79"/>
                          <a:cs typeface="Clother" pitchFamily="2" charset="-79"/>
                        </a:rPr>
                        <a:t>1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Clother" pitchFamily="2" charset="-79"/>
                        <a:cs typeface="Clother" pitchFamily="2" charset="-79"/>
                      </a:endParaRPr>
                    </a:p>
                  </a:txBody>
                  <a:tcPr marL="8715" marR="8715" marT="8715" marB="0" anchor="b">
                    <a:solidFill>
                      <a:srgbClr val="FFA3F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1" u="none" strike="noStrike">
                          <a:effectLst/>
                          <a:latin typeface="Clother" pitchFamily="2" charset="-79"/>
                          <a:cs typeface="Clother" pitchFamily="2" charset="-79"/>
                        </a:rPr>
                        <a:t>1</a:t>
                      </a: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Clother" pitchFamily="2" charset="-79"/>
                        <a:cs typeface="Clother" pitchFamily="2" charset="-79"/>
                      </a:endParaRPr>
                    </a:p>
                  </a:txBody>
                  <a:tcPr marL="8715" marR="8715" marT="8715" marB="0" anchor="b">
                    <a:solidFill>
                      <a:srgbClr val="FFA3F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1" u="none" strike="noStrike" dirty="0">
                          <a:effectLst/>
                          <a:latin typeface="Clother" pitchFamily="2" charset="-79"/>
                          <a:cs typeface="Clother" pitchFamily="2" charset="-79"/>
                        </a:rPr>
                        <a:t>7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Clother" pitchFamily="2" charset="-79"/>
                        <a:cs typeface="Clother" pitchFamily="2" charset="-79"/>
                      </a:endParaRPr>
                    </a:p>
                  </a:txBody>
                  <a:tcPr marL="8715" marR="8715" marT="8715" marB="0" anchor="b">
                    <a:solidFill>
                      <a:srgbClr val="FFA3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4212198"/>
                  </a:ext>
                </a:extLst>
              </a:tr>
              <a:tr h="34702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1" u="none" strike="noStrike">
                          <a:effectLst/>
                          <a:latin typeface="Clother" pitchFamily="2" charset="-79"/>
                          <a:cs typeface="Clother" pitchFamily="2" charset="-79"/>
                        </a:rPr>
                        <a:t>50</a:t>
                      </a: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Clother" pitchFamily="2" charset="-79"/>
                        <a:cs typeface="Clother" pitchFamily="2" charset="-79"/>
                      </a:endParaRPr>
                    </a:p>
                  </a:txBody>
                  <a:tcPr marL="8715" marR="8715" marT="8715" marB="0" anchor="b">
                    <a:solidFill>
                      <a:srgbClr val="FFA3F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1" u="none" strike="noStrike">
                          <a:effectLst/>
                          <a:latin typeface="Clother" pitchFamily="2" charset="-79"/>
                          <a:cs typeface="Clother" pitchFamily="2" charset="-79"/>
                        </a:rPr>
                        <a:t>1</a:t>
                      </a: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Clother" pitchFamily="2" charset="-79"/>
                        <a:cs typeface="Clother" pitchFamily="2" charset="-79"/>
                      </a:endParaRPr>
                    </a:p>
                  </a:txBody>
                  <a:tcPr marL="8715" marR="8715" marT="8715" marB="0" anchor="b">
                    <a:solidFill>
                      <a:srgbClr val="FFA3F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1" u="none" strike="noStrike" dirty="0">
                          <a:effectLst/>
                          <a:latin typeface="Clother" pitchFamily="2" charset="-79"/>
                          <a:cs typeface="Clother" pitchFamily="2" charset="-79"/>
                        </a:rPr>
                        <a:t>111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Clother" pitchFamily="2" charset="-79"/>
                        <a:cs typeface="Clother" pitchFamily="2" charset="-79"/>
                      </a:endParaRPr>
                    </a:p>
                  </a:txBody>
                  <a:tcPr marL="8715" marR="8715" marT="8715" marB="0" anchor="b">
                    <a:solidFill>
                      <a:srgbClr val="FFA3F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1" u="none" strike="noStrike" dirty="0">
                          <a:effectLst/>
                          <a:latin typeface="Clother" pitchFamily="2" charset="-79"/>
                          <a:cs typeface="Clother" pitchFamily="2" charset="-79"/>
                        </a:rPr>
                        <a:t>0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Clother" pitchFamily="2" charset="-79"/>
                        <a:cs typeface="Clother" pitchFamily="2" charset="-79"/>
                      </a:endParaRPr>
                    </a:p>
                  </a:txBody>
                  <a:tcPr marL="8715" marR="8715" marT="8715" marB="0" anchor="b">
                    <a:solidFill>
                      <a:srgbClr val="FFA3F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1" u="none" strike="noStrike" dirty="0">
                          <a:effectLst/>
                          <a:latin typeface="Clother" pitchFamily="2" charset="-79"/>
                          <a:cs typeface="Clother" pitchFamily="2" charset="-79"/>
                        </a:rPr>
                        <a:t>20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Clother" pitchFamily="2" charset="-79"/>
                        <a:cs typeface="Clother" pitchFamily="2" charset="-79"/>
                      </a:endParaRPr>
                    </a:p>
                  </a:txBody>
                  <a:tcPr marL="8715" marR="8715" marT="8715" marB="0" anchor="b">
                    <a:solidFill>
                      <a:srgbClr val="FFA3F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1" u="none" strike="noStrike" dirty="0">
                          <a:effectLst/>
                          <a:latin typeface="Clother" pitchFamily="2" charset="-79"/>
                          <a:cs typeface="Clother" pitchFamily="2" charset="-79"/>
                        </a:rPr>
                        <a:t>0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Clother" pitchFamily="2" charset="-79"/>
                        <a:cs typeface="Clother" pitchFamily="2" charset="-79"/>
                      </a:endParaRPr>
                    </a:p>
                  </a:txBody>
                  <a:tcPr marL="8715" marR="8715" marT="8715" marB="0" anchor="b">
                    <a:solidFill>
                      <a:srgbClr val="FFA3F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1" u="none" strike="noStrike" dirty="0">
                          <a:effectLst/>
                          <a:latin typeface="Clother" pitchFamily="2" charset="-79"/>
                          <a:cs typeface="Clother" pitchFamily="2" charset="-79"/>
                        </a:rPr>
                        <a:t>210000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Clother" pitchFamily="2" charset="-79"/>
                        <a:cs typeface="Clother" pitchFamily="2" charset="-79"/>
                      </a:endParaRPr>
                    </a:p>
                  </a:txBody>
                  <a:tcPr marL="8715" marR="8715" marT="8715" marB="0" anchor="b">
                    <a:solidFill>
                      <a:srgbClr val="FFA3F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1" u="none" strike="noStrike" dirty="0">
                          <a:effectLst/>
                          <a:latin typeface="Clother" pitchFamily="2" charset="-79"/>
                          <a:cs typeface="Clother" pitchFamily="2" charset="-79"/>
                        </a:rPr>
                        <a:t>1.9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Clother" pitchFamily="2" charset="-79"/>
                        <a:cs typeface="Clother" pitchFamily="2" charset="-79"/>
                      </a:endParaRPr>
                    </a:p>
                  </a:txBody>
                  <a:tcPr marL="8715" marR="8715" marT="8715" marB="0" anchor="b">
                    <a:solidFill>
                      <a:srgbClr val="FFA3F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1" u="none" strike="noStrike" dirty="0">
                          <a:effectLst/>
                          <a:latin typeface="Clother" pitchFamily="2" charset="-79"/>
                          <a:cs typeface="Clother" pitchFamily="2" charset="-79"/>
                        </a:rPr>
                        <a:t>137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Clother" pitchFamily="2" charset="-79"/>
                        <a:cs typeface="Clother" pitchFamily="2" charset="-79"/>
                      </a:endParaRPr>
                    </a:p>
                  </a:txBody>
                  <a:tcPr marL="8715" marR="8715" marT="8715" marB="0" anchor="b">
                    <a:solidFill>
                      <a:srgbClr val="FFA3F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1" u="none" strike="noStrike" dirty="0">
                          <a:effectLst/>
                          <a:latin typeface="Clother" pitchFamily="2" charset="-79"/>
                          <a:cs typeface="Clother" pitchFamily="2" charset="-79"/>
                        </a:rPr>
                        <a:t>1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Clother" pitchFamily="2" charset="-79"/>
                        <a:cs typeface="Clother" pitchFamily="2" charset="-79"/>
                      </a:endParaRPr>
                    </a:p>
                  </a:txBody>
                  <a:tcPr marL="8715" marR="8715" marT="8715" marB="0" anchor="b">
                    <a:solidFill>
                      <a:srgbClr val="FFA3F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1" u="none" strike="noStrike" dirty="0">
                          <a:effectLst/>
                          <a:latin typeface="Clother" pitchFamily="2" charset="-79"/>
                          <a:cs typeface="Clother" pitchFamily="2" charset="-79"/>
                        </a:rPr>
                        <a:t>0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Clother" pitchFamily="2" charset="-79"/>
                        <a:cs typeface="Clother" pitchFamily="2" charset="-79"/>
                      </a:endParaRPr>
                    </a:p>
                  </a:txBody>
                  <a:tcPr marL="8715" marR="8715" marT="8715" marB="0" anchor="b">
                    <a:solidFill>
                      <a:srgbClr val="FFA3F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1" u="none" strike="noStrike" dirty="0">
                          <a:effectLst/>
                          <a:latin typeface="Clother" pitchFamily="2" charset="-79"/>
                          <a:cs typeface="Clother" pitchFamily="2" charset="-79"/>
                        </a:rPr>
                        <a:t>7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Clother" pitchFamily="2" charset="-79"/>
                        <a:cs typeface="Clother" pitchFamily="2" charset="-79"/>
                      </a:endParaRPr>
                    </a:p>
                  </a:txBody>
                  <a:tcPr marL="8715" marR="8715" marT="8715" marB="0" anchor="b">
                    <a:solidFill>
                      <a:srgbClr val="FFA3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0073309"/>
                  </a:ext>
                </a:extLst>
              </a:tr>
              <a:tr h="34702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1" u="none" strike="noStrike">
                          <a:effectLst/>
                          <a:latin typeface="Clother" pitchFamily="2" charset="-79"/>
                          <a:cs typeface="Clother" pitchFamily="2" charset="-79"/>
                        </a:rPr>
                        <a:t>65</a:t>
                      </a: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Clother" pitchFamily="2" charset="-79"/>
                        <a:cs typeface="Clother" pitchFamily="2" charset="-79"/>
                      </a:endParaRPr>
                    </a:p>
                  </a:txBody>
                  <a:tcPr marL="8715" marR="8715" marT="8715" marB="0" anchor="b">
                    <a:solidFill>
                      <a:srgbClr val="FFA3F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1" u="none" strike="noStrike">
                          <a:effectLst/>
                          <a:latin typeface="Clother" pitchFamily="2" charset="-79"/>
                          <a:cs typeface="Clother" pitchFamily="2" charset="-79"/>
                        </a:rPr>
                        <a:t>1</a:t>
                      </a: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Clother" pitchFamily="2" charset="-79"/>
                        <a:cs typeface="Clother" pitchFamily="2" charset="-79"/>
                      </a:endParaRPr>
                    </a:p>
                  </a:txBody>
                  <a:tcPr marL="8715" marR="8715" marT="8715" marB="0" anchor="b">
                    <a:solidFill>
                      <a:srgbClr val="FFA3F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1" u="none" strike="noStrike">
                          <a:effectLst/>
                          <a:latin typeface="Clother" pitchFamily="2" charset="-79"/>
                          <a:cs typeface="Clother" pitchFamily="2" charset="-79"/>
                        </a:rPr>
                        <a:t>160</a:t>
                      </a: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Clother" pitchFamily="2" charset="-79"/>
                        <a:cs typeface="Clother" pitchFamily="2" charset="-79"/>
                      </a:endParaRPr>
                    </a:p>
                  </a:txBody>
                  <a:tcPr marL="8715" marR="8715" marT="8715" marB="0" anchor="b">
                    <a:solidFill>
                      <a:srgbClr val="FFA3F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1" u="none" strike="noStrike">
                          <a:effectLst/>
                          <a:latin typeface="Clother" pitchFamily="2" charset="-79"/>
                          <a:cs typeface="Clother" pitchFamily="2" charset="-79"/>
                        </a:rPr>
                        <a:t>1</a:t>
                      </a: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Clother" pitchFamily="2" charset="-79"/>
                        <a:cs typeface="Clother" pitchFamily="2" charset="-79"/>
                      </a:endParaRPr>
                    </a:p>
                  </a:txBody>
                  <a:tcPr marL="8715" marR="8715" marT="8715" marB="0" anchor="b">
                    <a:solidFill>
                      <a:srgbClr val="FFA3F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1" u="none" strike="noStrike" dirty="0">
                          <a:effectLst/>
                          <a:latin typeface="Clother" pitchFamily="2" charset="-79"/>
                          <a:cs typeface="Clother" pitchFamily="2" charset="-79"/>
                        </a:rPr>
                        <a:t>20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Clother" pitchFamily="2" charset="-79"/>
                        <a:cs typeface="Clother" pitchFamily="2" charset="-79"/>
                      </a:endParaRPr>
                    </a:p>
                  </a:txBody>
                  <a:tcPr marL="8715" marR="8715" marT="8715" marB="0" anchor="b">
                    <a:solidFill>
                      <a:srgbClr val="FFA3F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1" u="none" strike="noStrike" dirty="0">
                          <a:effectLst/>
                          <a:latin typeface="Clother" pitchFamily="2" charset="-79"/>
                          <a:cs typeface="Clother" pitchFamily="2" charset="-79"/>
                        </a:rPr>
                        <a:t>0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Clother" pitchFamily="2" charset="-79"/>
                        <a:cs typeface="Clother" pitchFamily="2" charset="-79"/>
                      </a:endParaRPr>
                    </a:p>
                  </a:txBody>
                  <a:tcPr marL="8715" marR="8715" marT="8715" marB="0" anchor="b">
                    <a:solidFill>
                      <a:srgbClr val="FFA3F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1" u="none" strike="noStrike" dirty="0">
                          <a:effectLst/>
                          <a:latin typeface="Clother" pitchFamily="2" charset="-79"/>
                          <a:cs typeface="Clother" pitchFamily="2" charset="-79"/>
                        </a:rPr>
                        <a:t>327000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Clother" pitchFamily="2" charset="-79"/>
                        <a:cs typeface="Clother" pitchFamily="2" charset="-79"/>
                      </a:endParaRPr>
                    </a:p>
                  </a:txBody>
                  <a:tcPr marL="8715" marR="8715" marT="8715" marB="0" anchor="b">
                    <a:solidFill>
                      <a:srgbClr val="FFA3F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1" u="none" strike="noStrike" dirty="0">
                          <a:effectLst/>
                          <a:latin typeface="Clother" pitchFamily="2" charset="-79"/>
                          <a:cs typeface="Clother" pitchFamily="2" charset="-79"/>
                        </a:rPr>
                        <a:t>2.7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Clother" pitchFamily="2" charset="-79"/>
                        <a:cs typeface="Clother" pitchFamily="2" charset="-79"/>
                      </a:endParaRPr>
                    </a:p>
                  </a:txBody>
                  <a:tcPr marL="8715" marR="8715" marT="8715" marB="0" anchor="b">
                    <a:solidFill>
                      <a:srgbClr val="FFA3F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1" u="none" strike="noStrike" dirty="0">
                          <a:effectLst/>
                          <a:latin typeface="Clother" pitchFamily="2" charset="-79"/>
                          <a:cs typeface="Clother" pitchFamily="2" charset="-79"/>
                        </a:rPr>
                        <a:t>116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Clother" pitchFamily="2" charset="-79"/>
                        <a:cs typeface="Clother" pitchFamily="2" charset="-79"/>
                      </a:endParaRPr>
                    </a:p>
                  </a:txBody>
                  <a:tcPr marL="8715" marR="8715" marT="8715" marB="0" anchor="b">
                    <a:solidFill>
                      <a:srgbClr val="FFA3F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1" u="none" strike="noStrike" dirty="0">
                          <a:effectLst/>
                          <a:latin typeface="Clother" pitchFamily="2" charset="-79"/>
                          <a:cs typeface="Clother" pitchFamily="2" charset="-79"/>
                        </a:rPr>
                        <a:t>0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Clother" pitchFamily="2" charset="-79"/>
                        <a:cs typeface="Clother" pitchFamily="2" charset="-79"/>
                      </a:endParaRPr>
                    </a:p>
                  </a:txBody>
                  <a:tcPr marL="8715" marR="8715" marT="8715" marB="0" anchor="b">
                    <a:solidFill>
                      <a:srgbClr val="FFA3F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1" u="none" strike="noStrike" dirty="0">
                          <a:effectLst/>
                          <a:latin typeface="Clother" pitchFamily="2" charset="-79"/>
                          <a:cs typeface="Clother" pitchFamily="2" charset="-79"/>
                        </a:rPr>
                        <a:t>0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Clother" pitchFamily="2" charset="-79"/>
                        <a:cs typeface="Clother" pitchFamily="2" charset="-79"/>
                      </a:endParaRPr>
                    </a:p>
                  </a:txBody>
                  <a:tcPr marL="8715" marR="8715" marT="8715" marB="0" anchor="b">
                    <a:solidFill>
                      <a:srgbClr val="FFA3F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1" u="none" strike="noStrike" dirty="0">
                          <a:effectLst/>
                          <a:latin typeface="Clother" pitchFamily="2" charset="-79"/>
                          <a:cs typeface="Clother" pitchFamily="2" charset="-79"/>
                        </a:rPr>
                        <a:t>8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Clother" pitchFamily="2" charset="-79"/>
                        <a:cs typeface="Clother" pitchFamily="2" charset="-79"/>
                      </a:endParaRPr>
                    </a:p>
                  </a:txBody>
                  <a:tcPr marL="8715" marR="8715" marT="8715" marB="0" anchor="b">
                    <a:solidFill>
                      <a:srgbClr val="FFA3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9316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26256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4DD3A-E77C-48D9-A234-C55DA32ED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8251" y="2170544"/>
            <a:ext cx="3932237" cy="570345"/>
          </a:xfrm>
        </p:spPr>
        <p:txBody>
          <a:bodyPr/>
          <a:lstStyle/>
          <a:p>
            <a:r>
              <a:rPr lang="en-US" dirty="0"/>
              <a:t>STROJOVÉ UČENIE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385B9F-E618-2BB1-B581-C361251CB9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78251" y="2740890"/>
            <a:ext cx="3932237" cy="2348346"/>
          </a:xfrm>
        </p:spPr>
        <p:txBody>
          <a:bodyPr/>
          <a:lstStyle/>
          <a:p>
            <a:r>
              <a:rPr lang="en-US" dirty="0" err="1"/>
              <a:t>Algoritmy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ktoré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môžu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/>
              <a:t>predpovedať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budúce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deje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základe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/>
              <a:t>historických</a:t>
            </a:r>
            <a:r>
              <a:rPr lang="en-US" dirty="0"/>
              <a:t> </a:t>
            </a:r>
            <a:r>
              <a:rPr lang="en-US" dirty="0" err="1"/>
              <a:t>dát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Postup</a:t>
            </a:r>
            <a:r>
              <a:rPr lang="en-US" dirty="0"/>
              <a:t> </a:t>
            </a:r>
            <a:r>
              <a:rPr lang="en-US" dirty="0" err="1"/>
              <a:t>Strojového</a:t>
            </a:r>
            <a:r>
              <a:rPr lang="en-US" dirty="0"/>
              <a:t> </a:t>
            </a:r>
            <a:r>
              <a:rPr lang="en-US" dirty="0" err="1"/>
              <a:t>učenia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865DFF"/>
                </a:solidFill>
              </a:rPr>
              <a:t>Vložíme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upravené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dáta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865DFF"/>
                </a:solidFill>
              </a:rPr>
              <a:t>Natrénujeme</a:t>
            </a:r>
            <a:r>
              <a:rPr lang="en-US" dirty="0">
                <a:solidFill>
                  <a:schemeClr val="bg1"/>
                </a:solidFill>
              </a:rPr>
              <a:t>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865DFF"/>
                </a:solidFill>
              </a:rPr>
              <a:t>Vyhodnotíme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jeho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výkon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562957E-0E1E-A18F-6A7D-AC5095711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248280"/>
            <a:ext cx="4968730" cy="4361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4999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084DE-19EC-0455-AF0D-611AA641F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190" y="1284835"/>
            <a:ext cx="3932237" cy="1600200"/>
          </a:xfrm>
        </p:spPr>
        <p:txBody>
          <a:bodyPr/>
          <a:lstStyle/>
          <a:p>
            <a:r>
              <a:rPr lang="en-US" dirty="0"/>
              <a:t>POUŽITÝ MODEL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FABF58-9408-7726-80C2-46892A627E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31190" y="2885035"/>
            <a:ext cx="3932237" cy="1600200"/>
          </a:xfrm>
        </p:spPr>
        <p:txBody>
          <a:bodyPr/>
          <a:lstStyle/>
          <a:p>
            <a:r>
              <a:rPr lang="en-US" dirty="0"/>
              <a:t>Decision Tree (</a:t>
            </a:r>
            <a:r>
              <a:rPr lang="en-US" dirty="0" err="1"/>
              <a:t>Rozhodovací</a:t>
            </a:r>
            <a:r>
              <a:rPr lang="en-US" dirty="0"/>
              <a:t> </a:t>
            </a:r>
            <a:r>
              <a:rPr lang="en-US" dirty="0" err="1"/>
              <a:t>strom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 err="1">
                <a:solidFill>
                  <a:schemeClr val="bg1"/>
                </a:solidFill>
              </a:rPr>
              <a:t>Tento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algoritmus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/>
              <a:t>rozhoduje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ako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/>
              <a:t>rozdeliť</a:t>
            </a:r>
            <a:r>
              <a:rPr lang="en-US" dirty="0"/>
              <a:t> </a:t>
            </a:r>
            <a:r>
              <a:rPr lang="en-US" dirty="0" err="1">
                <a:solidFill>
                  <a:schemeClr val="bg1"/>
                </a:solidFill>
              </a:rPr>
              <a:t>dáta</a:t>
            </a:r>
            <a:r>
              <a:rPr lang="en-US" dirty="0"/>
              <a:t> </a:t>
            </a:r>
            <a:r>
              <a:rPr lang="en-US" dirty="0">
                <a:solidFill>
                  <a:schemeClr val="bg1"/>
                </a:solidFill>
              </a:rPr>
              <a:t>do</a:t>
            </a:r>
            <a:r>
              <a:rPr lang="en-US" dirty="0"/>
              <a:t> </a:t>
            </a:r>
            <a:r>
              <a:rPr lang="en-US" dirty="0" err="1"/>
              <a:t>skupín</a:t>
            </a:r>
            <a:r>
              <a:rPr lang="en-US" dirty="0"/>
              <a:t> </a:t>
            </a:r>
            <a:r>
              <a:rPr lang="en-US" dirty="0" err="1">
                <a:solidFill>
                  <a:schemeClr val="bg1"/>
                </a:solidFill>
              </a:rPr>
              <a:t>na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základe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/>
              <a:t>atribútov</a:t>
            </a:r>
            <a:r>
              <a:rPr lang="en-US" dirty="0">
                <a:solidFill>
                  <a:schemeClr val="bg1"/>
                </a:solidFill>
              </a:rPr>
              <a:t> (</a:t>
            </a:r>
            <a:r>
              <a:rPr lang="en-US" dirty="0" err="1">
                <a:solidFill>
                  <a:schemeClr val="bg1"/>
                </a:solidFill>
              </a:rPr>
              <a:t>napr</a:t>
            </a:r>
            <a:r>
              <a:rPr lang="en-US" dirty="0">
                <a:solidFill>
                  <a:schemeClr val="bg1"/>
                </a:solidFill>
              </a:rPr>
              <a:t>. </a:t>
            </a:r>
            <a:r>
              <a:rPr lang="en-US" dirty="0" err="1">
                <a:solidFill>
                  <a:schemeClr val="bg1"/>
                </a:solidFill>
              </a:rPr>
              <a:t>podľa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veku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známok</a:t>
            </a:r>
            <a:r>
              <a:rPr lang="en-US" dirty="0">
                <a:solidFill>
                  <a:schemeClr val="bg1"/>
                </a:solidFill>
              </a:rPr>
              <a:t>…)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92B6D2-670E-17AA-3AE8-C11836E326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284835"/>
            <a:ext cx="4764810" cy="4288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2615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621A9A8-8D20-3820-6719-6DE43264FE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6760" y="716226"/>
            <a:ext cx="6538480" cy="5425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1357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C265B-1741-8751-2CDD-647B0811B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8915" y="2235200"/>
            <a:ext cx="3932237" cy="542636"/>
          </a:xfrm>
        </p:spPr>
        <p:txBody>
          <a:bodyPr/>
          <a:lstStyle/>
          <a:p>
            <a:r>
              <a:rPr lang="en-US" dirty="0"/>
              <a:t>TRÉNING MODELU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6892C8-C590-7BF7-9293-23C3E33958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938915" y="2777836"/>
            <a:ext cx="3932237" cy="1627909"/>
          </a:xfrm>
        </p:spPr>
        <p:txBody>
          <a:bodyPr/>
          <a:lstStyle/>
          <a:p>
            <a:r>
              <a:rPr lang="en-US" dirty="0" err="1"/>
              <a:t>Postup</a:t>
            </a:r>
            <a:r>
              <a:rPr lang="en-US" dirty="0"/>
              <a:t> </a:t>
            </a:r>
            <a:r>
              <a:rPr lang="en-US" dirty="0" err="1"/>
              <a:t>tréningu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Nahranie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dát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Rozdelenie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tréningové</a:t>
            </a:r>
            <a:r>
              <a:rPr lang="en-US" dirty="0">
                <a:solidFill>
                  <a:schemeClr val="bg1"/>
                </a:solidFill>
              </a:rPr>
              <a:t> a </a:t>
            </a:r>
            <a:r>
              <a:rPr lang="en-US" dirty="0" err="1">
                <a:solidFill>
                  <a:schemeClr val="bg1"/>
                </a:solidFill>
              </a:rPr>
              <a:t>evaluačné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dáta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Natrénovanie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modelu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6C7D13F-2157-EB4A-6F5F-A8C80D2FAE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0850" y="1388918"/>
            <a:ext cx="4080164" cy="4080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6260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A7F30-3CA0-754F-1A99-2F93DCF8F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8846" y="2124589"/>
            <a:ext cx="4064000" cy="579582"/>
          </a:xfrm>
        </p:spPr>
        <p:txBody>
          <a:bodyPr/>
          <a:lstStyle/>
          <a:p>
            <a:r>
              <a:rPr lang="en-US" dirty="0"/>
              <a:t>VÝSLEDKY MODELU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616329-CA3F-CF11-EE4C-32C6D097B7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35870" y="2704171"/>
            <a:ext cx="3848389" cy="2468418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Model </a:t>
            </a:r>
            <a:r>
              <a:rPr lang="en-US" dirty="0" err="1">
                <a:solidFill>
                  <a:schemeClr val="bg1"/>
                </a:solidFill>
              </a:rPr>
              <a:t>správne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vyhodnotil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/>
              <a:t>68%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prípadov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/>
              <a:t>úmrtia</a:t>
            </a:r>
            <a:r>
              <a:rPr lang="en-US" dirty="0">
                <a:solidFill>
                  <a:schemeClr val="bg1"/>
                </a:solidFill>
              </a:rPr>
              <a:t> a </a:t>
            </a:r>
            <a:r>
              <a:rPr lang="en-US" dirty="0"/>
              <a:t>81% </a:t>
            </a:r>
            <a:r>
              <a:rPr lang="en-US" dirty="0" err="1"/>
              <a:t>prežitia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srdcového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zlyhania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Pri </a:t>
            </a:r>
            <a:r>
              <a:rPr lang="en-US" dirty="0" err="1">
                <a:solidFill>
                  <a:schemeClr val="bg1"/>
                </a:solidFill>
              </a:rPr>
              <a:t>vyhodnocovaní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modelu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boli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uprednostnené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metriky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/>
              <a:t>Recall</a:t>
            </a:r>
            <a:r>
              <a:rPr lang="en-US" dirty="0">
                <a:solidFill>
                  <a:schemeClr val="bg1"/>
                </a:solidFill>
              </a:rPr>
              <a:t> a </a:t>
            </a:r>
            <a:r>
              <a:rPr lang="en-US" dirty="0"/>
              <a:t>F1 score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ktoré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dávajú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dôraz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na</a:t>
            </a:r>
            <a:r>
              <a:rPr lang="en-US" dirty="0">
                <a:solidFill>
                  <a:schemeClr val="bg1"/>
                </a:solidFill>
              </a:rPr>
              <a:t> model, aby </a:t>
            </a:r>
            <a:r>
              <a:rPr lang="en-US" dirty="0" err="1">
                <a:solidFill>
                  <a:schemeClr val="bg1"/>
                </a:solidFill>
              </a:rPr>
              <a:t>predikoval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pacientské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úmrtia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častejšie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7415838-0B9C-4063-50A7-E56B7EAB7F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1961" y="1110541"/>
            <a:ext cx="5810251" cy="4636918"/>
          </a:xfrm>
          <a:prstGeom prst="rect">
            <a:avLst/>
          </a:prstGeom>
          <a:ln w="762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144271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D783B-171C-705C-C57E-ACD5E515C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Clother Black" pitchFamily="2" charset="-79"/>
                <a:cs typeface="Clother Black" pitchFamily="2" charset="-79"/>
              </a:rPr>
              <a:t>ZDROJE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00795-775B-3253-F80E-A353A05780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baseline="30000" dirty="0"/>
              <a:t>1</a:t>
            </a:r>
            <a:r>
              <a:rPr lang="en-US" sz="1800" dirty="0"/>
              <a:t> </a:t>
            </a:r>
            <a:r>
              <a:rPr lang="en-US" sz="1800" dirty="0">
                <a:solidFill>
                  <a:schemeClr val="bg1"/>
                </a:solidFill>
              </a:rPr>
              <a:t>Heart Failure Clinical Records [Dataset]. (2020). UCI Machine Learning Repository. </a:t>
            </a:r>
            <a:r>
              <a:rPr lang="en-US" sz="1800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https://doi.org/10.24432/C5Z89R</a:t>
            </a:r>
            <a:r>
              <a:rPr lang="en-US" sz="1800" dirty="0">
                <a:solidFill>
                  <a:schemeClr val="bg1"/>
                </a:solidFill>
              </a:rPr>
              <a:t>.</a:t>
            </a:r>
          </a:p>
          <a:p>
            <a:r>
              <a:rPr lang="en-US" sz="1800" baseline="30000" dirty="0"/>
              <a:t>2</a:t>
            </a:r>
            <a:r>
              <a:rPr lang="en-US" sz="1800" dirty="0">
                <a:solidFill>
                  <a:schemeClr val="bg1"/>
                </a:solidFill>
              </a:rPr>
              <a:t> Chicco, D., Jurman, G. Machine learning can predict survival of patients with heart failure from serum creatinine and ejection fraction alone. </a:t>
            </a:r>
            <a:r>
              <a:rPr lang="en-US" sz="1800" i="1" dirty="0">
                <a:solidFill>
                  <a:schemeClr val="bg1"/>
                </a:solidFill>
              </a:rPr>
              <a:t>BMC Med Inform </a:t>
            </a:r>
            <a:r>
              <a:rPr lang="en-US" sz="1800" i="1" dirty="0" err="1">
                <a:solidFill>
                  <a:schemeClr val="bg1"/>
                </a:solidFill>
              </a:rPr>
              <a:t>Decis</a:t>
            </a:r>
            <a:r>
              <a:rPr lang="en-US" sz="1800" i="1" dirty="0">
                <a:solidFill>
                  <a:schemeClr val="bg1"/>
                </a:solidFill>
              </a:rPr>
              <a:t> Mak</a:t>
            </a:r>
            <a:r>
              <a:rPr lang="en-US" sz="1800" dirty="0">
                <a:solidFill>
                  <a:schemeClr val="bg1"/>
                </a:solidFill>
              </a:rPr>
              <a:t> </a:t>
            </a:r>
            <a:r>
              <a:rPr lang="en-US" sz="1800" b="1" dirty="0">
                <a:solidFill>
                  <a:schemeClr val="bg1"/>
                </a:solidFill>
              </a:rPr>
              <a:t>20</a:t>
            </a:r>
            <a:r>
              <a:rPr lang="en-US" sz="1800" dirty="0">
                <a:solidFill>
                  <a:schemeClr val="bg1"/>
                </a:solidFill>
              </a:rPr>
              <a:t>, 16 (2020). </a:t>
            </a:r>
            <a:r>
              <a:rPr lang="en-US" sz="1800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</a:t>
            </a:r>
            <a:r>
              <a:rPr lang="en-US" sz="1800" dirty="0" err="1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doi.org</a:t>
            </a:r>
            <a:r>
              <a:rPr lang="en-US" sz="1800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/10.1186/s12911-020-1023-5</a:t>
            </a:r>
            <a:endParaRPr lang="en-U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89600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0BD2E-6CDC-922A-5ABF-EC9F463DE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9FECBC2-EA38-2D6B-EBC9-A9AD5FA929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46" y="66907"/>
            <a:ext cx="11954107" cy="67241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6D06C93-3A0F-279C-8E6C-E96DF7DDF4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480" y="4594301"/>
            <a:ext cx="9144000" cy="1365431"/>
          </a:xfrm>
        </p:spPr>
        <p:txBody>
          <a:bodyPr>
            <a:normAutofit/>
          </a:bodyPr>
          <a:lstStyle/>
          <a:p>
            <a:r>
              <a:rPr lang="sk-SK" sz="4000" noProof="0" dirty="0">
                <a:latin typeface="Clother Black" pitchFamily="2" charset="-79"/>
                <a:cs typeface="Clother Black" pitchFamily="2" charset="-79"/>
              </a:rPr>
              <a:t>Predikcia úmrtnosti pacientov s diagnostikovaným zlyhaním srdca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CF961E-A49A-5C72-7E48-C6FB39B9B7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k-SK" b="1" noProof="0" dirty="0"/>
              <a:t>Maximilián Cenkner</a:t>
            </a:r>
          </a:p>
        </p:txBody>
      </p:sp>
    </p:spTree>
    <p:extLst>
      <p:ext uri="{BB962C8B-B14F-4D97-AF65-F5344CB8AC3E}">
        <p14:creationId xmlns:p14="http://schemas.microsoft.com/office/powerpoint/2010/main" val="10656021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</TotalTime>
  <Words>416</Words>
  <Application>Microsoft Macintosh PowerPoint</Application>
  <PresentationFormat>Widescreen</PresentationFormat>
  <Paragraphs>143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 Narrow</vt:lpstr>
      <vt:lpstr>Arial</vt:lpstr>
      <vt:lpstr>Clother</vt:lpstr>
      <vt:lpstr>Clother Black</vt:lpstr>
      <vt:lpstr>Office Theme</vt:lpstr>
      <vt:lpstr>Predikcia úmrtnosti pacientov s diagnostikovaným zlyhaním srdca</vt:lpstr>
      <vt:lpstr>OBSAH PRÁCE</vt:lpstr>
      <vt:lpstr>ZLYHANIE SRDCA</vt:lpstr>
      <vt:lpstr>DÁTA A DATASETY</vt:lpstr>
      <vt:lpstr>DÁTA A DATASETY</vt:lpstr>
      <vt:lpstr>POUŽITÝ DATASET</vt:lpstr>
      <vt:lpstr>POUŽITÝ DATASET</vt:lpstr>
      <vt:lpstr>STROJOVÉ UČENIE</vt:lpstr>
      <vt:lpstr>POUŽITÝ MODEL</vt:lpstr>
      <vt:lpstr>PowerPoint Presentation</vt:lpstr>
      <vt:lpstr>TRÉNING MODELU</vt:lpstr>
      <vt:lpstr>VÝSLEDKY MODELU</vt:lpstr>
      <vt:lpstr>ZDROJE</vt:lpstr>
      <vt:lpstr>Predikcia úmrtnosti pacientov s diagnostikovaným zlyhaním srdca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Maximilián Cenkner</dc:creator>
  <cp:lastModifiedBy>Maximilián Cenkner</cp:lastModifiedBy>
  <cp:revision>14</cp:revision>
  <dcterms:created xsi:type="dcterms:W3CDTF">2026-03-31T07:47:39Z</dcterms:created>
  <dcterms:modified xsi:type="dcterms:W3CDTF">2026-04-07T16:21:18Z</dcterms:modified>
</cp:coreProperties>
</file>