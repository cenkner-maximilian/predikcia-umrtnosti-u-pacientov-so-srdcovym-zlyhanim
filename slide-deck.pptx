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3FD"/>
    <a:srgbClr val="865DFF"/>
    <a:srgbClr val="1918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00"/>
    <p:restoredTop sz="94673"/>
  </p:normalViewPr>
  <p:slideViewPr>
    <p:cSldViewPr snapToGrid="0">
      <p:cViewPr varScale="1">
        <p:scale>
          <a:sx n="115" d="100"/>
          <a:sy n="115" d="100"/>
        </p:scale>
        <p:origin x="67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3719C-A301-1605-C52F-89FBF0E7D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480" y="4926841"/>
            <a:ext cx="9144000" cy="1032891"/>
          </a:xfrm>
          <a:prstGeom prst="rect">
            <a:avLst/>
          </a:prstGeom>
        </p:spPr>
        <p:txBody>
          <a:bodyPr anchor="b"/>
          <a:lstStyle>
            <a:lvl1pPr algn="l">
              <a:defRPr sz="6000"/>
            </a:lvl1pPr>
          </a:lstStyle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701E31-C627-5742-E74B-660178563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480" y="6051808"/>
            <a:ext cx="9144000" cy="546881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2299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3AA6D-05E2-43C4-8264-A451CF299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53365D-9696-A20E-DB3D-019F1846A3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0816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EA6E6-1988-0B39-F12E-8DDE1572F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5D19A5-EF12-28C4-313C-35BBB00A43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225697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8F8DC-885D-FC8F-CF92-93E71D0FA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E74D8-809B-3D48-D576-B393B1D0DC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20DD1B-FF2E-52C7-80C2-320626431A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23530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CF0AF-B2EB-8434-E4BB-A8F083E97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46FCC2-E28D-11BB-E561-74B1389D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2B5FE7-88B8-2726-F89E-6D15196BD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79E1EC-EC56-76BF-7844-EC3B88A844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686FF1-2DAA-7185-27C9-47F6D499BD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62143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553D6-6F04-5FE3-42A6-A22294BDB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70965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2585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11059-1783-3E26-08D7-E0CE9C898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 b="1" i="0">
                <a:latin typeface="Clother Black" pitchFamily="2" charset="-79"/>
                <a:cs typeface="Clother Black" pitchFamily="2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A1E90-47DF-F387-A9CC-1218EFCF6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0C22B7-DAFC-6BB4-52B6-F952797128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9765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75DD5-1D9D-CAA7-6442-AF7ADE10A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 b="1" i="0">
                <a:latin typeface="Clother Black" pitchFamily="2" charset="-79"/>
                <a:cs typeface="Clother Black" pitchFamily="2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42F04E-8703-C71B-F062-246F54DB0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34924A-4493-F3A5-AD0D-9DB72EBDDF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21076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66A0-4570-F0FA-8077-AA030DC09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76FF3-B9E0-A546-A173-2CD71DA376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8523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B1550-D5EB-A5F3-D3E8-77C3F5DBD4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AEFF63-0DAD-447B-0E4F-9A876F65FB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91509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8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6829DC-04BA-C26E-6F2E-93AF6257F2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122C9B5E-49CA-DF99-55F0-A1F89E38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55048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Clother" pitchFamily="2" charset="-79"/>
          <a:ea typeface="+mj-ea"/>
          <a:cs typeface="Clother" pitchFamily="2" charset="-79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FFA3FD"/>
          </a:solidFill>
          <a:latin typeface="Clother" pitchFamily="2" charset="-79"/>
          <a:ea typeface="+mn-ea"/>
          <a:cs typeface="Clother" pitchFamily="2" charset="-79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FFA3FD"/>
          </a:solidFill>
          <a:latin typeface="Clother" pitchFamily="2" charset="-79"/>
          <a:ea typeface="+mn-ea"/>
          <a:cs typeface="Clother" pitchFamily="2" charset="-79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FFA3FD"/>
          </a:solidFill>
          <a:latin typeface="Clother" pitchFamily="2" charset="-79"/>
          <a:ea typeface="+mn-ea"/>
          <a:cs typeface="Clother" pitchFamily="2" charset="-79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FA3FD"/>
          </a:solidFill>
          <a:latin typeface="Clother" pitchFamily="2" charset="-79"/>
          <a:ea typeface="+mn-ea"/>
          <a:cs typeface="Clother" pitchFamily="2" charset="-79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FA3FD"/>
          </a:solidFill>
          <a:latin typeface="Clother" pitchFamily="2" charset="-79"/>
          <a:ea typeface="+mn-ea"/>
          <a:cs typeface="Clother" pitchFamily="2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036A5E4-B82C-5AF3-482C-881B563F0A7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354192" y="934840"/>
            <a:ext cx="11483616" cy="49883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3026BD-3A88-855E-09A4-39DD05CF5F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480" y="4594301"/>
            <a:ext cx="9144000" cy="1365431"/>
          </a:xfrm>
        </p:spPr>
        <p:txBody>
          <a:bodyPr>
            <a:normAutofit/>
          </a:bodyPr>
          <a:lstStyle/>
          <a:p>
            <a:r>
              <a:rPr lang="sk-SK" sz="4000" noProof="0" dirty="0">
                <a:latin typeface="Clother Black" pitchFamily="2" charset="-79"/>
                <a:cs typeface="Clother Black" pitchFamily="2" charset="-79"/>
              </a:rPr>
              <a:t>Predikcia úmrtnosti pacientov s diagnostikovaným zlyhaním srdca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FD8F11-BFB2-2E34-3C2A-435409545B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k-SK" b="1" noProof="0" dirty="0"/>
              <a:t>Maximilián Cenkner | II.D</a:t>
            </a:r>
          </a:p>
        </p:txBody>
      </p:sp>
    </p:spTree>
    <p:extLst>
      <p:ext uri="{BB962C8B-B14F-4D97-AF65-F5344CB8AC3E}">
        <p14:creationId xmlns:p14="http://schemas.microsoft.com/office/powerpoint/2010/main" val="2537662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1299E-0F69-EFCA-4E4C-4F6549C9B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noProof="0" dirty="0"/>
              <a:t>OBSAH PRÁCE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01878-3C91-3DDC-05DB-DB1359C76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b="1" noProof="0" dirty="0"/>
              <a:t>Čo sú </a:t>
            </a:r>
            <a:r>
              <a:rPr lang="sk-SK" b="1" noProof="0" dirty="0" err="1"/>
              <a:t>data</a:t>
            </a:r>
            <a:r>
              <a:rPr lang="sk-SK" b="1" noProof="0" dirty="0"/>
              <a:t> a </a:t>
            </a:r>
            <a:r>
              <a:rPr lang="sk-SK" b="1" noProof="0" dirty="0" err="1"/>
              <a:t>dataset</a:t>
            </a:r>
            <a:r>
              <a:rPr lang="sk-SK" b="1" noProof="0" dirty="0"/>
              <a:t>?</a:t>
            </a:r>
          </a:p>
          <a:p>
            <a:r>
              <a:rPr lang="sk-SK" b="1" noProof="0" dirty="0"/>
              <a:t>Aký </a:t>
            </a:r>
            <a:r>
              <a:rPr lang="sk-SK" b="1" noProof="0" dirty="0" err="1"/>
              <a:t>dataset</a:t>
            </a:r>
            <a:r>
              <a:rPr lang="sk-SK" b="1" noProof="0" dirty="0"/>
              <a:t> som použil ja?</a:t>
            </a:r>
          </a:p>
          <a:p>
            <a:r>
              <a:rPr lang="sk-SK" b="1" noProof="0" dirty="0"/>
              <a:t>Čo je strojové učenie (</a:t>
            </a:r>
            <a:r>
              <a:rPr lang="sk-SK" b="1" noProof="0" dirty="0" err="1"/>
              <a:t>machine</a:t>
            </a:r>
            <a:r>
              <a:rPr lang="sk-SK" b="1" noProof="0" dirty="0"/>
              <a:t> </a:t>
            </a:r>
            <a:r>
              <a:rPr lang="sk-SK" b="1" noProof="0" dirty="0" err="1"/>
              <a:t>learning</a:t>
            </a:r>
            <a:r>
              <a:rPr lang="sk-SK" b="1" noProof="0" dirty="0"/>
              <a:t>)?</a:t>
            </a:r>
          </a:p>
          <a:p>
            <a:r>
              <a:rPr lang="sk-SK" b="1" noProof="0" dirty="0"/>
              <a:t>Aký model som použil ja?</a:t>
            </a:r>
          </a:p>
          <a:p>
            <a:r>
              <a:rPr lang="sk-SK" b="1" noProof="0" dirty="0"/>
              <a:t>Ako prebieha tréning a </a:t>
            </a:r>
            <a:r>
              <a:rPr lang="sk-SK" b="1" noProof="0" dirty="0" err="1"/>
              <a:t>evaluácia</a:t>
            </a:r>
            <a:endParaRPr lang="sk-SK" b="1" noProof="0" dirty="0"/>
          </a:p>
          <a:p>
            <a:r>
              <a:rPr lang="sk-SK" b="1" noProof="0" dirty="0"/>
              <a:t>Finálny experiment</a:t>
            </a:r>
          </a:p>
          <a:p>
            <a:r>
              <a:rPr lang="sk-SK" b="1" noProof="0" dirty="0"/>
              <a:t>Vyhodnotenie</a:t>
            </a:r>
          </a:p>
        </p:txBody>
      </p:sp>
    </p:spTree>
    <p:extLst>
      <p:ext uri="{BB962C8B-B14F-4D97-AF65-F5344CB8AC3E}">
        <p14:creationId xmlns:p14="http://schemas.microsoft.com/office/powerpoint/2010/main" val="654054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63188-FD02-9859-D4ED-DCA6DA796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9359" y="2386359"/>
            <a:ext cx="3932237" cy="540835"/>
          </a:xfrm>
        </p:spPr>
        <p:txBody>
          <a:bodyPr/>
          <a:lstStyle/>
          <a:p>
            <a:r>
              <a:rPr lang="sk-SK" dirty="0"/>
              <a:t>DÁTA A DATASETY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8D9E44-B240-BEFC-6669-8C30E3A7FF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29359" y="2927195"/>
            <a:ext cx="3932237" cy="13716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b="1" dirty="0"/>
              <a:t>Dáta </a:t>
            </a:r>
            <a:r>
              <a:rPr lang="sk-SK" dirty="0">
                <a:solidFill>
                  <a:schemeClr val="bg1"/>
                </a:solidFill>
              </a:rPr>
              <a:t>– akékoľvek informácie vo forme čísel, písmen apod.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b="1" dirty="0" err="1"/>
              <a:t>Datasety</a:t>
            </a:r>
            <a:r>
              <a:rPr lang="sk-SK" b="1" dirty="0"/>
              <a:t> </a:t>
            </a:r>
            <a:r>
              <a:rPr lang="sk-SK" dirty="0">
                <a:solidFill>
                  <a:schemeClr val="bg1"/>
                </a:solidFill>
              </a:rPr>
              <a:t>– usporiadaná skupina viacerých dát, ktoré spolu súvisia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7A70F6-AA3F-9D17-DAA7-423DC2271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0029" y="1651000"/>
            <a:ext cx="3556000" cy="355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138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5229-61A0-918F-D9C5-E400C6902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sk-SK" dirty="0">
                <a:latin typeface="Clother Black" pitchFamily="2" charset="-79"/>
                <a:cs typeface="Clother Black" pitchFamily="2" charset="-79"/>
              </a:rPr>
              <a:t>DÁTA A DATASETY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444F912-1E47-B9FA-4A11-753F994E30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2515046"/>
              </p:ext>
            </p:extLst>
          </p:nvPr>
        </p:nvGraphicFramePr>
        <p:xfrm>
          <a:off x="2780956" y="2312808"/>
          <a:ext cx="6630088" cy="223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7522">
                  <a:extLst>
                    <a:ext uri="{9D8B030D-6E8A-4147-A177-3AD203B41FA5}">
                      <a16:colId xmlns:a16="http://schemas.microsoft.com/office/drawing/2014/main" val="1755118095"/>
                    </a:ext>
                  </a:extLst>
                </a:gridCol>
                <a:gridCol w="1657522">
                  <a:extLst>
                    <a:ext uri="{9D8B030D-6E8A-4147-A177-3AD203B41FA5}">
                      <a16:colId xmlns:a16="http://schemas.microsoft.com/office/drawing/2014/main" val="453939657"/>
                    </a:ext>
                  </a:extLst>
                </a:gridCol>
                <a:gridCol w="1657522">
                  <a:extLst>
                    <a:ext uri="{9D8B030D-6E8A-4147-A177-3AD203B41FA5}">
                      <a16:colId xmlns:a16="http://schemas.microsoft.com/office/drawing/2014/main" val="302147663"/>
                    </a:ext>
                  </a:extLst>
                </a:gridCol>
                <a:gridCol w="1657522">
                  <a:extLst>
                    <a:ext uri="{9D8B030D-6E8A-4147-A177-3AD203B41FA5}">
                      <a16:colId xmlns:a16="http://schemas.microsoft.com/office/drawing/2014/main" val="3606006613"/>
                    </a:ext>
                  </a:extLst>
                </a:gridCol>
              </a:tblGrid>
              <a:tr h="408005">
                <a:tc gridSpan="4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b="1" u="none" strike="noStrike" dirty="0">
                          <a:effectLst/>
                        </a:rPr>
                        <a:t>ŠTUDENTI</a:t>
                      </a:r>
                      <a:endParaRPr lang="sk-SK" sz="2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83602" marR="183602" marT="91801" marB="91801" anchor="b">
                    <a:solidFill>
                      <a:srgbClr val="865D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6770898"/>
                  </a:ext>
                </a:extLst>
              </a:tr>
              <a:tr h="4335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b="1" u="none" strike="noStrike" dirty="0">
                          <a:effectLst/>
                        </a:rPr>
                        <a:t>meno</a:t>
                      </a:r>
                      <a:endParaRPr lang="sk-SK" sz="2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865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b="1" u="none" strike="noStrike" dirty="0">
                          <a:effectLst/>
                        </a:rPr>
                        <a:t>vek</a:t>
                      </a:r>
                      <a:endParaRPr lang="sk-SK" sz="2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865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b="1" u="none" strike="noStrike" dirty="0">
                          <a:effectLst/>
                        </a:rPr>
                        <a:t>predmet</a:t>
                      </a:r>
                      <a:endParaRPr lang="sk-SK" sz="2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865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b="1" u="none" strike="noStrike" dirty="0">
                          <a:effectLst/>
                        </a:rPr>
                        <a:t>známka</a:t>
                      </a:r>
                      <a:endParaRPr lang="sk-SK" sz="2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865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404169"/>
                  </a:ext>
                </a:extLst>
              </a:tr>
              <a:tr h="4335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u="none" strike="noStrike" dirty="0">
                          <a:effectLst/>
                        </a:rPr>
                        <a:t>Miloš</a:t>
                      </a:r>
                      <a:endParaRPr lang="sk-SK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u="none" strike="noStrike" dirty="0">
                          <a:effectLst/>
                        </a:rPr>
                        <a:t>67</a:t>
                      </a:r>
                      <a:endParaRPr lang="sk-SK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u="none" strike="noStrike" dirty="0">
                          <a:effectLst/>
                        </a:rPr>
                        <a:t>MAT</a:t>
                      </a:r>
                      <a:endParaRPr lang="sk-SK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u="none" strike="noStrike" dirty="0">
                          <a:effectLst/>
                        </a:rPr>
                        <a:t>1</a:t>
                      </a:r>
                      <a:endParaRPr lang="sk-SK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FFA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4754500"/>
                  </a:ext>
                </a:extLst>
              </a:tr>
              <a:tr h="40800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u="none" strike="noStrike" dirty="0">
                          <a:effectLst/>
                        </a:rPr>
                        <a:t>Marek</a:t>
                      </a:r>
                      <a:endParaRPr lang="sk-SK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u="none" strike="noStrike" dirty="0">
                          <a:effectLst/>
                        </a:rPr>
                        <a:t>17</a:t>
                      </a:r>
                      <a:endParaRPr lang="sk-SK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u="none" strike="noStrike" dirty="0">
                          <a:effectLst/>
                        </a:rPr>
                        <a:t>ANJ</a:t>
                      </a:r>
                      <a:endParaRPr lang="sk-SK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u="none" strike="noStrike" dirty="0">
                          <a:effectLst/>
                        </a:rPr>
                        <a:t>3</a:t>
                      </a:r>
                      <a:endParaRPr lang="sk-SK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FFA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5938091"/>
                  </a:ext>
                </a:extLst>
              </a:tr>
              <a:tr h="40800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u="none" strike="noStrike" dirty="0">
                          <a:effectLst/>
                        </a:rPr>
                        <a:t>Jozef</a:t>
                      </a:r>
                      <a:endParaRPr lang="sk-SK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u="none" strike="noStrike" dirty="0">
                          <a:effectLst/>
                        </a:rPr>
                        <a:t>16</a:t>
                      </a:r>
                      <a:endParaRPr lang="sk-SK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u="none" strike="noStrike" dirty="0">
                          <a:effectLst/>
                        </a:rPr>
                        <a:t>OCJ</a:t>
                      </a:r>
                      <a:endParaRPr lang="sk-SK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sk-SK" sz="2400" u="none" strike="noStrike" dirty="0">
                          <a:effectLst/>
                        </a:rPr>
                        <a:t>2</a:t>
                      </a:r>
                      <a:endParaRPr lang="sk-SK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9125" marR="19125" marT="19125" marB="0" anchor="b">
                    <a:solidFill>
                      <a:srgbClr val="FFA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39472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0528F143-8EC7-E787-E8E4-B420C2439455}"/>
              </a:ext>
            </a:extLst>
          </p:cNvPr>
          <p:cNvSpPr/>
          <p:nvPr/>
        </p:nvSpPr>
        <p:spPr>
          <a:xfrm>
            <a:off x="2780956" y="3323063"/>
            <a:ext cx="6630088" cy="41259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 dirty="0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3D1825-A9F5-505C-C471-B5DEE986C4B3}"/>
              </a:ext>
            </a:extLst>
          </p:cNvPr>
          <p:cNvSpPr txBox="1"/>
          <p:nvPr/>
        </p:nvSpPr>
        <p:spPr>
          <a:xfrm>
            <a:off x="1052907" y="3290834"/>
            <a:ext cx="1601084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2500" b="1" dirty="0">
                <a:solidFill>
                  <a:srgbClr val="FF0000"/>
                </a:solidFill>
                <a:latin typeface="Clother" pitchFamily="2" charset="-79"/>
                <a:cs typeface="Clother" pitchFamily="2" charset="-79"/>
              </a:rPr>
              <a:t>1 študent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5ADBB6-332A-1FA4-B7A2-A69ADC7A8605}"/>
              </a:ext>
            </a:extLst>
          </p:cNvPr>
          <p:cNvSpPr/>
          <p:nvPr/>
        </p:nvSpPr>
        <p:spPr>
          <a:xfrm>
            <a:off x="6096000" y="2865863"/>
            <a:ext cx="1665249" cy="1679329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A7B608-4B22-DB73-D90E-9D5BBA9B2CAC}"/>
              </a:ext>
            </a:extLst>
          </p:cNvPr>
          <p:cNvSpPr txBox="1"/>
          <p:nvPr/>
        </p:nvSpPr>
        <p:spPr>
          <a:xfrm>
            <a:off x="4625471" y="4745914"/>
            <a:ext cx="4695516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k-SK" sz="2500" b="1" dirty="0">
                <a:solidFill>
                  <a:schemeClr val="accent3"/>
                </a:solidFill>
                <a:latin typeface="Clother" pitchFamily="2" charset="-79"/>
                <a:cs typeface="Clother" pitchFamily="2" charset="-79"/>
              </a:rPr>
              <a:t>1 atribút tabuľky (dokopy sú 4)</a:t>
            </a:r>
          </a:p>
        </p:txBody>
      </p:sp>
    </p:spTree>
    <p:extLst>
      <p:ext uri="{BB962C8B-B14F-4D97-AF65-F5344CB8AC3E}">
        <p14:creationId xmlns:p14="http://schemas.microsoft.com/office/powerpoint/2010/main" val="110549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427CC-6603-F33C-EA6B-CA499297B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BE574-D05C-760C-B9D7-345C476AA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3915" y="1797641"/>
            <a:ext cx="3932237" cy="732321"/>
          </a:xfrm>
        </p:spPr>
        <p:txBody>
          <a:bodyPr/>
          <a:lstStyle/>
          <a:p>
            <a:r>
              <a:rPr lang="sk-SK" dirty="0"/>
              <a:t>POUŽITÝ DATASET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090D53-2E22-AC11-9B13-93404F4BC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23915" y="2680774"/>
            <a:ext cx="3932237" cy="2189365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dirty="0"/>
              <a:t>300 </a:t>
            </a:r>
            <a:r>
              <a:rPr lang="sk-SK" dirty="0">
                <a:solidFill>
                  <a:schemeClr val="bg1"/>
                </a:solidFill>
              </a:rPr>
              <a:t>pacientov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dirty="0"/>
              <a:t>12</a:t>
            </a:r>
            <a:r>
              <a:rPr lang="sk-SK" dirty="0">
                <a:solidFill>
                  <a:schemeClr val="bg1"/>
                </a:solidFill>
              </a:rPr>
              <a:t> atribútov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dirty="0">
                <a:solidFill>
                  <a:schemeClr val="bg1"/>
                </a:solidFill>
              </a:rPr>
              <a:t>Atribúty popisujú </a:t>
            </a:r>
            <a:r>
              <a:rPr lang="sk-SK" dirty="0"/>
              <a:t>pacientov vek, vlastnosti krvi a srdca...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k-SK" dirty="0">
                <a:solidFill>
                  <a:schemeClr val="bg1"/>
                </a:solidFill>
              </a:rPr>
              <a:t>Popis údajov na </a:t>
            </a:r>
            <a:r>
              <a:rPr lang="sk-SK" dirty="0"/>
              <a:t>stránke</a:t>
            </a:r>
            <a:r>
              <a:rPr lang="sk-SK" baseline="30000" dirty="0"/>
              <a:t>1</a:t>
            </a: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k-S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B0F980-75D2-F881-F27C-1F5D0BE08E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691589"/>
            <a:ext cx="4249271" cy="4680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407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EAB27-7143-EAA3-4F57-3655C3AD4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sk-SK" dirty="0"/>
              <a:t>POUŽITÝ DATASET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BDF3A6A-789F-C437-68FF-4A643EF620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3226351"/>
              </p:ext>
            </p:extLst>
          </p:nvPr>
        </p:nvGraphicFramePr>
        <p:xfrm>
          <a:off x="198237" y="2375210"/>
          <a:ext cx="11795527" cy="237716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95306">
                  <a:extLst>
                    <a:ext uri="{9D8B030D-6E8A-4147-A177-3AD203B41FA5}">
                      <a16:colId xmlns:a16="http://schemas.microsoft.com/office/drawing/2014/main" val="3551977613"/>
                    </a:ext>
                  </a:extLst>
                </a:gridCol>
                <a:gridCol w="795306">
                  <a:extLst>
                    <a:ext uri="{9D8B030D-6E8A-4147-A177-3AD203B41FA5}">
                      <a16:colId xmlns:a16="http://schemas.microsoft.com/office/drawing/2014/main" val="1037647118"/>
                    </a:ext>
                  </a:extLst>
                </a:gridCol>
                <a:gridCol w="1694218">
                  <a:extLst>
                    <a:ext uri="{9D8B030D-6E8A-4147-A177-3AD203B41FA5}">
                      <a16:colId xmlns:a16="http://schemas.microsoft.com/office/drawing/2014/main" val="1612026969"/>
                    </a:ext>
                  </a:extLst>
                </a:gridCol>
                <a:gridCol w="795306">
                  <a:extLst>
                    <a:ext uri="{9D8B030D-6E8A-4147-A177-3AD203B41FA5}">
                      <a16:colId xmlns:a16="http://schemas.microsoft.com/office/drawing/2014/main" val="4021125920"/>
                    </a:ext>
                  </a:extLst>
                </a:gridCol>
                <a:gridCol w="1109164">
                  <a:extLst>
                    <a:ext uri="{9D8B030D-6E8A-4147-A177-3AD203B41FA5}">
                      <a16:colId xmlns:a16="http://schemas.microsoft.com/office/drawing/2014/main" val="3884683820"/>
                    </a:ext>
                  </a:extLst>
                </a:gridCol>
                <a:gridCol w="1343795">
                  <a:extLst>
                    <a:ext uri="{9D8B030D-6E8A-4147-A177-3AD203B41FA5}">
                      <a16:colId xmlns:a16="http://schemas.microsoft.com/office/drawing/2014/main" val="4116861164"/>
                    </a:ext>
                  </a:extLst>
                </a:gridCol>
                <a:gridCol w="860163">
                  <a:extLst>
                    <a:ext uri="{9D8B030D-6E8A-4147-A177-3AD203B41FA5}">
                      <a16:colId xmlns:a16="http://schemas.microsoft.com/office/drawing/2014/main" val="1301692253"/>
                    </a:ext>
                  </a:extLst>
                </a:gridCol>
                <a:gridCol w="1029073">
                  <a:extLst>
                    <a:ext uri="{9D8B030D-6E8A-4147-A177-3AD203B41FA5}">
                      <a16:colId xmlns:a16="http://schemas.microsoft.com/office/drawing/2014/main" val="3468462791"/>
                    </a:ext>
                  </a:extLst>
                </a:gridCol>
                <a:gridCol w="987278">
                  <a:extLst>
                    <a:ext uri="{9D8B030D-6E8A-4147-A177-3AD203B41FA5}">
                      <a16:colId xmlns:a16="http://schemas.microsoft.com/office/drawing/2014/main" val="934288543"/>
                    </a:ext>
                  </a:extLst>
                </a:gridCol>
                <a:gridCol w="795306">
                  <a:extLst>
                    <a:ext uri="{9D8B030D-6E8A-4147-A177-3AD203B41FA5}">
                      <a16:colId xmlns:a16="http://schemas.microsoft.com/office/drawing/2014/main" val="891206718"/>
                    </a:ext>
                  </a:extLst>
                </a:gridCol>
                <a:gridCol w="795306">
                  <a:extLst>
                    <a:ext uri="{9D8B030D-6E8A-4147-A177-3AD203B41FA5}">
                      <a16:colId xmlns:a16="http://schemas.microsoft.com/office/drawing/2014/main" val="3204169589"/>
                    </a:ext>
                  </a:extLst>
                </a:gridCol>
                <a:gridCol w="795306">
                  <a:extLst>
                    <a:ext uri="{9D8B030D-6E8A-4147-A177-3AD203B41FA5}">
                      <a16:colId xmlns:a16="http://schemas.microsoft.com/office/drawing/2014/main" val="3506732259"/>
                    </a:ext>
                  </a:extLst>
                </a:gridCol>
              </a:tblGrid>
              <a:tr h="64206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lother" pitchFamily="2" charset="-79"/>
                          <a:cs typeface="Clother" pitchFamily="2" charset="-79"/>
                        </a:rPr>
                        <a:t>age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ctr">
                    <a:solidFill>
                      <a:srgbClr val="865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1" u="none" strike="noStrike" dirty="0" err="1">
                          <a:solidFill>
                            <a:schemeClr val="bg1"/>
                          </a:solidFill>
                          <a:effectLst/>
                          <a:latin typeface="Clother" pitchFamily="2" charset="-79"/>
                          <a:cs typeface="Clother" pitchFamily="2" charset="-79"/>
                        </a:rPr>
                        <a:t>anaemia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ctr">
                    <a:solidFill>
                      <a:srgbClr val="865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lother" pitchFamily="2" charset="-79"/>
                          <a:cs typeface="Clother" pitchFamily="2" charset="-79"/>
                        </a:rPr>
                        <a:t>creatinine </a:t>
                      </a:r>
                      <a:r>
                        <a:rPr lang="en-US" sz="15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Clother" pitchFamily="2" charset="-79"/>
                          <a:cs typeface="Clother" pitchFamily="2" charset="-79"/>
                        </a:rPr>
                        <a:t>phosphokinese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ctr">
                    <a:solidFill>
                      <a:srgbClr val="865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lother" pitchFamily="2" charset="-79"/>
                          <a:cs typeface="Clother" pitchFamily="2" charset="-79"/>
                        </a:rPr>
                        <a:t>diabetes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ctr">
                    <a:solidFill>
                      <a:srgbClr val="865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lother" pitchFamily="2" charset="-79"/>
                          <a:cs typeface="Clother" pitchFamily="2" charset="-79"/>
                        </a:rPr>
                        <a:t>Ejection Fraction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ctr">
                    <a:solidFill>
                      <a:srgbClr val="865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lother" pitchFamily="2" charset="-79"/>
                          <a:cs typeface="Clother" pitchFamily="2" charset="-79"/>
                        </a:rPr>
                        <a:t>High blood pressure</a:t>
                      </a:r>
                    </a:p>
                  </a:txBody>
                  <a:tcPr marL="8715" marR="8715" marT="8715" marB="0" anchor="ctr">
                    <a:solidFill>
                      <a:srgbClr val="865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lother" pitchFamily="2" charset="-79"/>
                          <a:cs typeface="Clother" pitchFamily="2" charset="-79"/>
                        </a:rPr>
                        <a:t>platelet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500" b="1" i="0" u="none" strike="noStrike" dirty="0">
                          <a:solidFill>
                            <a:schemeClr val="bg1"/>
                          </a:solidFill>
                          <a:effectLst/>
                          <a:latin typeface="Clother" pitchFamily="2" charset="-79"/>
                          <a:cs typeface="Clother" pitchFamily="2" charset="-79"/>
                        </a:rPr>
                        <a:t>count</a:t>
                      </a:r>
                    </a:p>
                  </a:txBody>
                  <a:tcPr marL="8715" marR="8715" marT="8715" marB="0" anchor="ctr">
                    <a:solidFill>
                      <a:srgbClr val="865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lother" pitchFamily="2" charset="-79"/>
                          <a:cs typeface="Clother" pitchFamily="2" charset="-79"/>
                        </a:rPr>
                        <a:t>serum creatinine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ctr">
                    <a:solidFill>
                      <a:srgbClr val="865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lother" pitchFamily="2" charset="-79"/>
                          <a:cs typeface="Clother" pitchFamily="2" charset="-79"/>
                        </a:rPr>
                        <a:t>serum sodium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ctr">
                    <a:solidFill>
                      <a:srgbClr val="865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lother" pitchFamily="2" charset="-79"/>
                          <a:cs typeface="Clother" pitchFamily="2" charset="-79"/>
                        </a:rPr>
                        <a:t>sex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ctr">
                    <a:solidFill>
                      <a:srgbClr val="865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lother" pitchFamily="2" charset="-79"/>
                          <a:cs typeface="Clother" pitchFamily="2" charset="-79"/>
                        </a:rPr>
                        <a:t>smoking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ctr">
                    <a:solidFill>
                      <a:srgbClr val="865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500" b="1" u="none" strike="noStrike" dirty="0">
                          <a:solidFill>
                            <a:schemeClr val="bg1"/>
                          </a:solidFill>
                          <a:effectLst/>
                          <a:latin typeface="Clother" pitchFamily="2" charset="-79"/>
                          <a:cs typeface="Clother" pitchFamily="2" charset="-79"/>
                        </a:rPr>
                        <a:t>time</a:t>
                      </a:r>
                      <a:endParaRPr lang="en-US" sz="1500" b="1" i="0" u="none" strike="noStrike" dirty="0">
                        <a:solidFill>
                          <a:schemeClr val="bg1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ctr">
                    <a:solidFill>
                      <a:srgbClr val="865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3901002"/>
                  </a:ext>
                </a:extLst>
              </a:tr>
              <a:tr h="34702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75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582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20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265000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1.9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130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45996"/>
                  </a:ext>
                </a:extLst>
              </a:tr>
              <a:tr h="34702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55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7861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38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263358.03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1.1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136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617858"/>
                  </a:ext>
                </a:extLst>
              </a:tr>
              <a:tr h="34702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65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146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20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162000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1.3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129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212198"/>
                  </a:ext>
                </a:extLst>
              </a:tr>
              <a:tr h="34702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50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111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20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210000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1.9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137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0073309"/>
                  </a:ext>
                </a:extLst>
              </a:tr>
              <a:tr h="34702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65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160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>
                          <a:effectLst/>
                          <a:latin typeface="Clother" pitchFamily="2" charset="-79"/>
                          <a:cs typeface="Clother" pitchFamily="2" charset="-79"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20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327000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2.7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116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u="none" strike="noStrike" dirty="0">
                          <a:effectLst/>
                          <a:latin typeface="Clother" pitchFamily="2" charset="-79"/>
                          <a:cs typeface="Clother" pitchFamily="2" charset="-79"/>
                        </a:rPr>
                        <a:t>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lother" pitchFamily="2" charset="-79"/>
                        <a:cs typeface="Clother" pitchFamily="2" charset="-79"/>
                      </a:endParaRPr>
                    </a:p>
                  </a:txBody>
                  <a:tcPr marL="8715" marR="8715" marT="8715" marB="0" anchor="b">
                    <a:solidFill>
                      <a:srgbClr val="FFA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9316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2625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4DD3A-E77C-48D9-A234-C55DA32ED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STROJOVÉ UČENIE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397853-E228-459F-4448-679977206AD0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385B9F-E618-2BB1-B581-C361251CB97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učenia</a:t>
            </a:r>
            <a:r>
              <a:rPr lang="en-US" dirty="0"/>
              <a:t> </a:t>
            </a:r>
            <a:r>
              <a:rPr lang="en-US" dirty="0" err="1"/>
              <a:t>nejakého</a:t>
            </a:r>
            <a:r>
              <a:rPr lang="en-US" dirty="0"/>
              <a:t> </a:t>
            </a:r>
            <a:r>
              <a:rPr lang="en-US" dirty="0" err="1"/>
              <a:t>modelu</a:t>
            </a:r>
            <a:r>
              <a:rPr lang="en-US" dirty="0"/>
              <a:t>  z </a:t>
            </a:r>
            <a:r>
              <a:rPr lang="en-US" dirty="0" err="1"/>
              <a:t>historických</a:t>
            </a:r>
            <a:r>
              <a:rPr lang="en-US" dirty="0"/>
              <a:t> </a:t>
            </a:r>
            <a:r>
              <a:rPr lang="en-US" dirty="0" err="1"/>
              <a:t>dát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32499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214</Words>
  <Application>Microsoft Macintosh PowerPoint</Application>
  <PresentationFormat>Widescreen</PresentationFormat>
  <Paragraphs>114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 Narrow</vt:lpstr>
      <vt:lpstr>Arial</vt:lpstr>
      <vt:lpstr>Clother</vt:lpstr>
      <vt:lpstr>Clother Black</vt:lpstr>
      <vt:lpstr>Office Theme</vt:lpstr>
      <vt:lpstr>Predikcia úmrtnosti pacientov s diagnostikovaným zlyhaním srdca</vt:lpstr>
      <vt:lpstr>OBSAH PRÁCE</vt:lpstr>
      <vt:lpstr>DÁTA A DATASETY</vt:lpstr>
      <vt:lpstr>DÁTA A DATASETY</vt:lpstr>
      <vt:lpstr>POUŽITÝ DATASET</vt:lpstr>
      <vt:lpstr>POUŽITÝ DATASET</vt:lpstr>
      <vt:lpstr>STROJOVÉ UČENIE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Maximilián Cenkner</dc:creator>
  <cp:lastModifiedBy>Maximilián Cenkner</cp:lastModifiedBy>
  <cp:revision>7</cp:revision>
  <dcterms:created xsi:type="dcterms:W3CDTF">2026-03-31T07:47:39Z</dcterms:created>
  <dcterms:modified xsi:type="dcterms:W3CDTF">2026-03-31T11:23:01Z</dcterms:modified>
</cp:coreProperties>
</file>